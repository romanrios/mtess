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  <p:embeddedFont>
      <p:font typeface="Poppins Black"/>
      <p:bold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Antonio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33" Type="http://schemas.openxmlformats.org/officeDocument/2006/relationships/font" Target="fonts/Poppins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Black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39" Type="http://schemas.openxmlformats.org/officeDocument/2006/relationships/font" Target="fonts/Antonio-bold.fntdata"/><Relationship Id="rId16" Type="http://schemas.openxmlformats.org/officeDocument/2006/relationships/slide" Target="slides/slide11.xml"/><Relationship Id="rId38" Type="http://schemas.openxmlformats.org/officeDocument/2006/relationships/font" Target="fonts/Antoni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c460faec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c460faec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0774e37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0774e37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c460faec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ec460faec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0774e377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0774e377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c460faec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c460faec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c460faec2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c460faec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c460faec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c460faec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c460faec2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c460faec2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c460faec2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ec460faec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0774e3773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20774e377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c460faec2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ec460faec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b9fe8e6d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1b9fe8e6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c460faec2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2ec460faec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1b9fe8e6d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1b9fe8e6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c460faec2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2ec460faec2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c460faec2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ec460faec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c460faec2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2ec460faec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c460faec2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ec460faec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c460faec2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c460faec2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c460faec2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c460faec2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ec460faec2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2ec460faec2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c460faec2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c460faec2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93050" y="1217250"/>
            <a:ext cx="81579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Estrategia de Marca: G. Vega</a:t>
            </a:r>
            <a:endParaRPr b="1" sz="8200">
              <a:solidFill>
                <a:srgbClr val="FFFFFF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6550" y="1752725"/>
            <a:ext cx="792175" cy="3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4100" y="264500"/>
            <a:ext cx="8157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QUIÉN SOY.</a:t>
            </a:r>
            <a:endParaRPr b="1" sz="10000">
              <a:solidFill>
                <a:srgbClr val="FFFFFF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460775" y="1939500"/>
            <a:ext cx="8036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/>
          <p:nvPr/>
        </p:nvSpPr>
        <p:spPr>
          <a:xfrm>
            <a:off x="8261750" y="4136225"/>
            <a:ext cx="235800" cy="4287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5375" y="307375"/>
            <a:ext cx="792175" cy="3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908825" y="2105850"/>
            <a:ext cx="7140600" cy="24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Soy Gabriel Vega, un abogado y mediador santafesino de 27 años. Desde los 18, he estado comprometido con el PRO. </a:t>
            </a:r>
            <a:r>
              <a:rPr lang="en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Hoy s</a:t>
            </a:r>
            <a:r>
              <a:rPr lang="en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oy Director Provincial de Capacitación y Formación Profesional del Ministerio de Trabajo de Santa Fe</a:t>
            </a:r>
            <a:r>
              <a:rPr lang="en" sz="1900">
                <a:latin typeface="Helvetica Neue"/>
                <a:ea typeface="Helvetica Neue"/>
                <a:cs typeface="Helvetica Neue"/>
                <a:sym typeface="Helvetica Neue"/>
              </a:rPr>
              <a:t>. Mi pasión por la política se compara sólo por mi amor por Unión de Santa Fe. Aspiro a seguir liderando con integridad, promoviendo políticas públicas que generen un impacto real y duradero en nuestra provincia.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450975" y="500125"/>
            <a:ext cx="33477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Esta estrategia de marca busca fortalecer su perfil público y político, alineando todas las actividades y comunicaciones con sus valores y objetivos.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638" y="282175"/>
            <a:ext cx="644575" cy="264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96900" y="546500"/>
            <a:ext cx="83502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Biografía </a:t>
            </a: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Política</a:t>
            </a: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 del Candidato:</a:t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Objetivo: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Diputado Nacional por la Provincia de Santa Fe 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Ser la figura emergente de un oficialismo provincial, listo para defender la gestión en el plano nacional.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Encuadre: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5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Dentro del PRO en Santa Fe: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figura emergente en el PRO, conocido por su liderazgo y oratoria como también por su desempeño en la gestión.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Gise Scaglia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Vicegobernadora y presidenta del PRO de Santa Fe. Figura determinante en la alianza provincial gobernante.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En Unidos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simil JxC - liderada por la UCR, va desde el Socialismo al PRO (LLA?)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el Ministerio de Trabajo, cómo DP de Capacitación y Formación Profesional</a:t>
            </a:r>
            <a:endParaRPr sz="20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212700" y="304800"/>
            <a:ext cx="87186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Contexto Político en el que estás inserto</a:t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-"/>
            </a:pPr>
            <a:r>
              <a:rPr lang="en" sz="18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PRO: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Gisela preside el partido, en una tregua incierta con la tropa de Angelini y Chumpitaz. Hoy lleva la lapicera y tiene mayor injerencia sobre la (poca) territorialidad del partido. El partido sigue siendo importante, en particular por su ascendencia a nivel nacional, y el valor del “sello”.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-"/>
            </a:pPr>
            <a:r>
              <a:rPr lang="en" sz="18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Unidos: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Espacio liderado por la UCR, quien junto al Socialismo dominan la política territorial dentro de la alianza. Termina el mandato de Pullaro en 3 años.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Santa Fe Capital: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Gobierna aliado de la UCR</a:t>
            </a:r>
            <a:endParaRPr sz="1800">
              <a:solidFill>
                <a:schemeClr val="dk1"/>
              </a:solidFill>
              <a:highlight>
                <a:schemeClr val="accent6"/>
              </a:highlight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788" y="501300"/>
            <a:ext cx="644575" cy="2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212700" y="304800"/>
            <a:ext cx="87186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Contexto </a:t>
            </a: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Político en el que </a:t>
            </a: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estás</a:t>
            </a: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 inserto</a:t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-"/>
            </a:pPr>
            <a:r>
              <a:rPr lang="en" sz="18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LLA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Fue una buena elección de Milei en las elecciones 2023. Hoy, tras una sucesión de internas y abandonos, no tienen candidatos instalados para 2025. Ciertamente no hay candidatos que por sí solos traccione votos. Capas se suma al frente provincial (dudoso)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-"/>
            </a:pPr>
            <a:r>
              <a:rPr lang="en" sz="18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Peronismo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Fragmentado y desmoralizado. Rossi - Perotti - Traferri </a:t>
            </a:r>
            <a:endParaRPr sz="18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-"/>
            </a:pPr>
            <a:r>
              <a:rPr lang="en" sz="18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Desafíos Locales: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Competencia con otros jóvenes políticos y la necesidad de destacar en un entorno político diverso y competitivo.</a:t>
            </a:r>
            <a:endParaRPr sz="1800">
              <a:solidFill>
                <a:schemeClr val="dk1"/>
              </a:solidFill>
              <a:highlight>
                <a:schemeClr val="accent6"/>
              </a:highlight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788" y="501300"/>
            <a:ext cx="644575" cy="2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84100" y="264500"/>
            <a:ext cx="5406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PARA QUÉ.</a:t>
            </a:r>
            <a:endParaRPr b="1" sz="10000">
              <a:solidFill>
                <a:srgbClr val="FFFFFF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cxnSp>
        <p:nvCxnSpPr>
          <p:cNvPr id="89" name="Google Shape;89;p18"/>
          <p:cNvCxnSpPr/>
          <p:nvPr/>
        </p:nvCxnSpPr>
        <p:spPr>
          <a:xfrm>
            <a:off x="460775" y="1939500"/>
            <a:ext cx="8036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8"/>
          <p:cNvSpPr/>
          <p:nvPr/>
        </p:nvSpPr>
        <p:spPr>
          <a:xfrm>
            <a:off x="8261750" y="4136225"/>
            <a:ext cx="235800" cy="4287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5375" y="307375"/>
            <a:ext cx="792175" cy="3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60775" y="2056675"/>
            <a:ext cx="7699500" cy="205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io"/>
              <a:buChar char="●"/>
            </a:pPr>
            <a:r>
              <a:rPr lang="en" sz="1800"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Corto Plazo:</a:t>
            </a: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 Aumentar el alcance de Gabriel en redes y posicionarlo como un líder </a:t>
            </a: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ascendente</a:t>
            </a: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 del PRO de Santa Fe.</a:t>
            </a:r>
            <a:endParaRPr sz="1800">
              <a:latin typeface="Antonio"/>
              <a:ea typeface="Antonio"/>
              <a:cs typeface="Antonio"/>
              <a:sym typeface="Antoni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io"/>
              <a:buChar char="●"/>
            </a:pPr>
            <a:r>
              <a:rPr lang="en" sz="1800"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Mediano Plazo:</a:t>
            </a: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 Consolidar una base de apoyo sólida entre jóvenes profesionales y votantes del PRO.</a:t>
            </a:r>
            <a:endParaRPr sz="1800">
              <a:latin typeface="Antonio"/>
              <a:ea typeface="Antonio"/>
              <a:cs typeface="Antonio"/>
              <a:sym typeface="Antoni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io"/>
              <a:buChar char="●"/>
            </a:pPr>
            <a:r>
              <a:rPr lang="en" sz="1800"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Largo Plazo:</a:t>
            </a: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 Posicionar a Gabriel como un referente en políticas de formación profesional y empleo en la provincia y a nivel nacional.</a:t>
            </a:r>
            <a:endParaRPr sz="1800"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78725" y="1634300"/>
            <a:ext cx="786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¿Cuál es el objetivo de la marca? ¿Qué se busca lograr con el posicionamiento? A corto, mediano y largo plazo.</a:t>
            </a:r>
            <a:endParaRPr sz="16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9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9"/>
          <p:cNvSpPr txBox="1"/>
          <p:nvPr/>
        </p:nvSpPr>
        <p:spPr>
          <a:xfrm>
            <a:off x="923575" y="5361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PÚBLICO OBJETIVO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096650" y="1469025"/>
            <a:ext cx="6328500" cy="31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ntonio"/>
              <a:buChar char="-"/>
            </a:pPr>
            <a:r>
              <a:rPr lang="en" sz="1900"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Jóvenes Profesionales y Universitarios (18-35 años)</a:t>
            </a:r>
            <a:endParaRPr sz="1900">
              <a:latin typeface="Antonio"/>
              <a:ea typeface="Antonio"/>
              <a:cs typeface="Antonio"/>
              <a:sym typeface="Antoni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ntonio"/>
              <a:buChar char="-"/>
            </a:pPr>
            <a:r>
              <a:rPr lang="en" sz="1900"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Votantes del PRO y la Centro-Derecha: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 Miembros y simpatizantes del partido.</a:t>
            </a:r>
            <a:endParaRPr sz="1900">
              <a:latin typeface="Antonio"/>
              <a:ea typeface="Antonio"/>
              <a:cs typeface="Antonio"/>
              <a:sym typeface="Antoni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ntonio"/>
              <a:buChar char="-"/>
            </a:pPr>
            <a:r>
              <a:rPr lang="en" sz="1900">
                <a:solidFill>
                  <a:schemeClr val="dk1"/>
                </a:solidFill>
                <a:latin typeface="Antonio"/>
                <a:ea typeface="Antonio"/>
                <a:cs typeface="Antonio"/>
                <a:sym typeface="Antonio"/>
              </a:rPr>
              <a:t>Personas del interior santafesino (?)</a:t>
            </a:r>
            <a:endParaRPr sz="1900">
              <a:latin typeface="Antonio"/>
              <a:ea typeface="Antonio"/>
              <a:cs typeface="Antonio"/>
              <a:sym typeface="Antoni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ntonio"/>
              <a:buChar char="-"/>
            </a:pP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Votantes de Milei desencantados por la alta 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tasa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 de desempleo (?)</a:t>
            </a:r>
            <a:endParaRPr sz="1900">
              <a:latin typeface="Antonio"/>
              <a:ea typeface="Antonio"/>
              <a:cs typeface="Antonio"/>
              <a:sym typeface="Antoni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ntonio"/>
              <a:buChar char="-"/>
            </a:pP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Segmento 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sociodemográfico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-laboral 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específico</a:t>
            </a:r>
            <a:r>
              <a:rPr lang="en" sz="1900">
                <a:latin typeface="Antonio"/>
                <a:ea typeface="Antonio"/>
                <a:cs typeface="Antonio"/>
                <a:sym typeface="Antonio"/>
              </a:rPr>
              <a:t>?</a:t>
            </a:r>
            <a:endParaRPr sz="1900"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1134600" y="918600"/>
            <a:ext cx="6252600" cy="492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ntonio"/>
                <a:ea typeface="Antonio"/>
                <a:cs typeface="Antonio"/>
                <a:sym typeface="Antonio"/>
              </a:rPr>
              <a:t>Votantes de Unidos (o a nivel nacional: JxC)</a:t>
            </a:r>
            <a:endParaRPr sz="2000"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638" y="282175"/>
            <a:ext cx="644575" cy="26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914825" y="129775"/>
            <a:ext cx="71502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highlight>
                  <a:schemeClr val="accent6"/>
                </a:highlight>
                <a:latin typeface="Antonio"/>
                <a:ea typeface="Antonio"/>
                <a:cs typeface="Antonio"/>
                <a:sym typeface="Antonio"/>
              </a:rPr>
              <a:t>FODA</a:t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Fortalezas:</a:t>
            </a:r>
            <a:endParaRPr sz="15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Dentro de un partido consolidado, con respaldo político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Gestión para mostrar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Habilidad de oratoria y liderazgo, demostrada en intervenciones públicas.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Debilidades:</a:t>
            </a:r>
            <a:endParaRPr sz="15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Necesidad de Mayor Visibilidad Nacional / Percepción Limitada fuera de Santa Fe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Dependencia de Líderes del PRO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Necesidad de Estrategia Digital Más Fuerte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Oportunidades:</a:t>
            </a:r>
            <a:endParaRPr sz="15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Creciente Demanda por Liderazgo Renovada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 de Tecnologías Digitales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Fortalecer la Coalición de "Unidos"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-"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Amenazas:</a:t>
            </a:r>
            <a:endParaRPr sz="1500">
              <a:solidFill>
                <a:schemeClr val="dk1"/>
              </a:solidFill>
              <a:highlight>
                <a:schemeClr val="accent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Competencia con Otros Jóvenes Políticos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Desconfianza General Hacia la Clase Política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-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Dependencia de Alianzas Políticas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21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21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1280775" y="218800"/>
            <a:ext cx="6399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6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¿Cuáles son los </a:t>
            </a:r>
            <a:r>
              <a:rPr b="1" lang="en" sz="26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VALORES</a:t>
            </a:r>
            <a:r>
              <a:rPr lang="en" sz="2600">
                <a:solidFill>
                  <a:srgbClr val="3B65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r>
              <a:rPr lang="en" sz="2200">
                <a:solidFill>
                  <a:srgbClr val="3B65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200">
              <a:solidFill>
                <a:srgbClr val="3B65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22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220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1073600" y="805775"/>
            <a:ext cx="7889400" cy="46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Juventud - Profesionalidad - </a:t>
            </a:r>
            <a:r>
              <a:rPr b="1" lang="en" sz="1100">
                <a:solidFill>
                  <a:schemeClr val="dk1"/>
                </a:solidFill>
              </a:rPr>
              <a:t>Didáctico</a:t>
            </a:r>
            <a:r>
              <a:rPr b="1" lang="en" sz="1100">
                <a:solidFill>
                  <a:schemeClr val="dk1"/>
                </a:solidFill>
              </a:rPr>
              <a:t> - Educador -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Compromiso con la Juventud: </a:t>
            </a:r>
            <a:r>
              <a:rPr lang="en" sz="1100">
                <a:solidFill>
                  <a:schemeClr val="dk1"/>
                </a:solidFill>
              </a:rPr>
              <a:t>Gabriel trabaja activamente para involucrar a los jóvenes en la política, enfocándose en políticas que les brinden oportunidades y los motiven a participar en la vida pública.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Estética y Composición:</a:t>
            </a:r>
            <a:r>
              <a:rPr lang="en" sz="1100">
                <a:solidFill>
                  <a:schemeClr val="dk1"/>
                </a:solidFill>
              </a:rPr>
              <a:t> Imágenes dinámicas y frescas que muestren a jóvenes activos y participando. Colores vibrantes y modernos que resuenen con un público joven.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Innovación y Moderno: </a:t>
            </a:r>
            <a:r>
              <a:rPr lang="en" sz="1100">
                <a:solidFill>
                  <a:schemeClr val="dk1"/>
                </a:solidFill>
              </a:rPr>
              <a:t>Fomenta la innovación en la gestión pública y en las políticas de empleo, buscando siempre nuevas maneras de mejorar la eficiencia y efectividad del gobierno.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Estética y Composición:</a:t>
            </a:r>
            <a:r>
              <a:rPr lang="en" sz="1100">
                <a:solidFill>
                  <a:schemeClr val="dk1"/>
                </a:solidFill>
              </a:rPr>
              <a:t> Estilo moderno y minimalista, con énfasis en elementos tecnológicos y digitales. Videos y gráficos que presenten ideas de manera clara y atractiva.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Federalismo y Orgullo Provincial: </a:t>
            </a:r>
            <a:r>
              <a:rPr lang="en" sz="1100">
                <a:solidFill>
                  <a:schemeClr val="dk1"/>
                </a:solidFill>
              </a:rPr>
              <a:t>Gabriel defiende la importancia del federalismo y el desarrollo equitativo de todas las regiones, con un fuerte sentido de orgullo por su provincia, Santa Fe.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Estética y Composición:</a:t>
            </a:r>
            <a:r>
              <a:rPr lang="en" sz="1100">
                <a:solidFill>
                  <a:schemeClr val="dk1"/>
                </a:solidFill>
              </a:rPr>
              <a:t> Uso de elementos visuales que representen la identidad santafesina, como paisajes locales o símbolos provinciales. Colores que evoquen el sentido de pertenencia y comunidad.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Liderazgo Juvenil y Renovación: </a:t>
            </a:r>
            <a:r>
              <a:rPr lang="en" sz="1100">
                <a:solidFill>
                  <a:schemeClr val="dk1"/>
                </a:solidFill>
              </a:rPr>
              <a:t>Impulsa la renovación dentro del PRO y en la política en general, promoviendo nuevas ideas y liderazgos jóvenes.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Estética y Composición:</a:t>
            </a:r>
            <a:r>
              <a:rPr lang="en" sz="1100">
                <a:solidFill>
                  <a:schemeClr val="dk1"/>
                </a:solidFill>
              </a:rPr>
              <a:t> Contenidos que inspiren y motiven, mostrando a Gabriel como un líder joven y accesible. Estilo visual que </a:t>
            </a:r>
            <a:r>
              <a:rPr lang="en" sz="1100">
                <a:solidFill>
                  <a:schemeClr val="dk1"/>
                </a:solidFill>
              </a:rPr>
              <a:t>combina</a:t>
            </a:r>
            <a:r>
              <a:rPr lang="en" sz="1100">
                <a:solidFill>
                  <a:schemeClr val="dk1"/>
                </a:solidFill>
              </a:rPr>
              <a:t> lo tradicional con lo moderno, para representar la idea de renovación.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22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2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1280775" y="218800"/>
            <a:ext cx="7044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6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¿Cuáles son las </a:t>
            </a:r>
            <a:r>
              <a:rPr b="1" lang="en" sz="26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BANDERAS IDEOLÓGICAS</a:t>
            </a:r>
            <a:r>
              <a:rPr lang="en" sz="2600">
                <a:solidFill>
                  <a:srgbClr val="3B65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r>
              <a:rPr lang="en" sz="2200">
                <a:solidFill>
                  <a:srgbClr val="3B65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200">
              <a:solidFill>
                <a:srgbClr val="3B65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22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220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923575" y="805775"/>
            <a:ext cx="8039400" cy="3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Educación y Capacitación Profesional: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Temas Concretos:</a:t>
            </a:r>
            <a:r>
              <a:rPr lang="en" sz="1100">
                <a:solidFill>
                  <a:schemeClr val="dk1"/>
                </a:solidFill>
              </a:rPr>
              <a:t> Propuestas de capacitación laboral, programas de formación técnica, acceso a la educación superior, desarrollo de habilidades digitales.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Transparencia y Anticorrupción: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Temas Concretos:</a:t>
            </a:r>
            <a:r>
              <a:rPr lang="en" sz="1100">
                <a:solidFill>
                  <a:schemeClr val="dk1"/>
                </a:solidFill>
              </a:rPr>
              <a:t> Políticas de gobierno abierto, auditorías públicas, mecanismos de control ciudadano, rendición de cuentas.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Innovación en la Gestión Pública: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Temas Concretos:</a:t>
            </a:r>
            <a:r>
              <a:rPr lang="en" sz="1100">
                <a:solidFill>
                  <a:schemeClr val="dk1"/>
                </a:solidFill>
              </a:rPr>
              <a:t> Digitalización de servicios públicos, implementación de nuevas tecnologías en la gestión gubernamental, gobierno electrónico.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Desarrollo Regional y Federalismo: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Temas Concretos:</a:t>
            </a:r>
            <a:r>
              <a:rPr lang="en" sz="1100">
                <a:solidFill>
                  <a:schemeClr val="dk1"/>
                </a:solidFill>
              </a:rPr>
              <a:t> Inversiones en infraestructura regional, políticas de descentralización, fomento del desarrollo económico en las provincias.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Juventud y Participación Ciudadana: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Temas Concretos:</a:t>
            </a:r>
            <a:r>
              <a:rPr lang="en" sz="1100">
                <a:solidFill>
                  <a:schemeClr val="dk1"/>
                </a:solidFill>
              </a:rPr>
              <a:t> Políticas para el acceso a la primera vivienda, programas de voluntariado, campañas de participación cívica, inclusión de jóvenes en espacios de decisión.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highlight>
                  <a:srgbClr val="B6D7A8"/>
                </a:highlight>
              </a:rPr>
              <a:t>Desarrollo Económico Sostenible:</a:t>
            </a:r>
            <a:r>
              <a:rPr lang="en" sz="1100">
                <a:solidFill>
                  <a:schemeClr val="dk1"/>
                </a:solidFill>
                <a:highlight>
                  <a:srgbClr val="B6D7A8"/>
                </a:highlight>
              </a:rPr>
              <a:t> </a:t>
            </a:r>
            <a:r>
              <a:rPr b="1" lang="en" sz="1100">
                <a:solidFill>
                  <a:schemeClr val="dk1"/>
                </a:solidFill>
                <a:highlight>
                  <a:srgbClr val="B6D7A8"/>
                </a:highlight>
              </a:rPr>
              <a:t>Temas Concretos:</a:t>
            </a:r>
            <a:r>
              <a:rPr lang="en" sz="1100">
                <a:solidFill>
                  <a:schemeClr val="dk1"/>
                </a:solidFill>
                <a:highlight>
                  <a:srgbClr val="B6D7A8"/>
                </a:highlight>
              </a:rPr>
              <a:t> Fomento a la economía verde, apoyo a pequeñas y medianas empresas (PyMEs), promoción de prácticas empresariales sostenibles, políticas de empleo juvenil.</a:t>
            </a:r>
            <a:endParaRPr sz="1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Empleo -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6215075" y="-10725"/>
            <a:ext cx="2928900" cy="5143500"/>
          </a:xfrm>
          <a:prstGeom prst="rect">
            <a:avLst/>
          </a:prstGeom>
          <a:solidFill>
            <a:srgbClr val="4A57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3"/>
          <p:cNvCxnSpPr/>
          <p:nvPr/>
        </p:nvCxnSpPr>
        <p:spPr>
          <a:xfrm flipH="1">
            <a:off x="923550" y="488900"/>
            <a:ext cx="1800" cy="41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3"/>
          <p:cNvSpPr txBox="1"/>
          <p:nvPr/>
        </p:nvSpPr>
        <p:spPr>
          <a:xfrm>
            <a:off x="6646900" y="2322525"/>
            <a:ext cx="2195100" cy="813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LIBERALES ORDENADOS</a:t>
            </a:r>
            <a:r>
              <a:rPr b="1" lang="en" sz="19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.</a:t>
            </a:r>
            <a:endParaRPr b="1" sz="19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6738100" y="156550"/>
            <a:ext cx="2012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¿Cuál es el </a:t>
            </a:r>
            <a:endParaRPr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ENFOQUE</a:t>
            </a:r>
            <a:r>
              <a:rPr lang="en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endParaRPr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15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1025375" y="206025"/>
            <a:ext cx="5289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Instagram: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Tono: </a:t>
            </a:r>
            <a:r>
              <a:rPr lang="en"/>
              <a:t>Motivacional, inspirados, cercano.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Foco: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Formatos: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Twitter: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Tono: </a:t>
            </a:r>
            <a:r>
              <a:rPr lang="en"/>
              <a:t>Crítico, firme, argumentativo.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Foco:</a:t>
            </a:r>
            <a:r>
              <a:rPr lang="en"/>
              <a:t> Opinión sobre políticas públicas, análisis de la situación local y nacional, y propuestas concretas.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TikTok: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Tono: </a:t>
            </a:r>
            <a:r>
              <a:rPr lang="en"/>
              <a:t>Informal y divertido.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Foco: </a:t>
            </a:r>
            <a:r>
              <a:rPr lang="en"/>
              <a:t>Videos cortos explicando propuestas, desafíos y logros, y contenido viral relacionado con su trabajo político.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Facebook: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Tono:</a:t>
            </a:r>
            <a:r>
              <a:rPr lang="en"/>
              <a:t> Informativo y profesional.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Foco: </a:t>
            </a:r>
            <a:r>
              <a:rPr lang="en"/>
              <a:t>Publicaciones largas sobre iniciativas, eventos y resultados obtenidos en su gestión.</a:t>
            </a:r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6646900" y="1259150"/>
            <a:ext cx="2195100" cy="813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Impact"/>
                <a:ea typeface="Impact"/>
                <a:cs typeface="Impact"/>
                <a:sym typeface="Impact"/>
              </a:rPr>
              <a:t>ORIENTADO AL</a:t>
            </a:r>
            <a:endParaRPr sz="1900">
              <a:solidFill>
                <a:srgbClr val="EEEEEE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Impact"/>
                <a:ea typeface="Impact"/>
                <a:cs typeface="Impact"/>
                <a:sym typeface="Impact"/>
              </a:rPr>
              <a:t> FUTURO.</a:t>
            </a:r>
            <a:r>
              <a:rPr b="1" lang="en" sz="1900">
                <a:solidFill>
                  <a:srgbClr val="EEEEEE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b="1" sz="1900">
              <a:solidFill>
                <a:srgbClr val="EEEEEE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932250" y="1210100"/>
            <a:ext cx="7800900" cy="362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4"/>
          <p:cNvCxnSpPr/>
          <p:nvPr/>
        </p:nvCxnSpPr>
        <p:spPr>
          <a:xfrm>
            <a:off x="923575" y="676875"/>
            <a:ext cx="19500" cy="41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4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1787700" y="257450"/>
            <a:ext cx="599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E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TEMAS Y CONTENIDOS </a:t>
            </a:r>
            <a:endParaRPr b="1" sz="2200">
              <a:solidFill>
                <a:srgbClr val="4E71E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E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TRABAJAR</a:t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923575" y="1210100"/>
            <a:ext cx="78009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Instagram Reels: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Video motivacional sobre la importancia de la formación profesional y cómo Gabriel está trabajando para mejorarla.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1 vez por semana.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Empoderado y motivacional.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Twitter Hilo: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Explicación detallada de una propuesta de reforma en capacitación y empleo promovida por Gabriel.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Cada 2 semanas.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Crítico y coyuntural.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TikTok Video Corto: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Challenge divertido que invita a los jóvenes a compartir sus metas profesionales.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1 vez por semana.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Informal y cercano.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/>
          <p:nvPr/>
        </p:nvSpPr>
        <p:spPr>
          <a:xfrm>
            <a:off x="932250" y="1210100"/>
            <a:ext cx="7800900" cy="362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5"/>
          <p:cNvCxnSpPr/>
          <p:nvPr/>
        </p:nvCxnSpPr>
        <p:spPr>
          <a:xfrm>
            <a:off x="923575" y="676875"/>
            <a:ext cx="19500" cy="41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5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1787700" y="257450"/>
            <a:ext cx="599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E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TEMAS Y CONTENIDOS </a:t>
            </a:r>
            <a:endParaRPr b="1" sz="2200">
              <a:solidFill>
                <a:srgbClr val="4E71E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E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TRABAJAR</a:t>
            </a:r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923575" y="1210100"/>
            <a:ext cx="78009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YouTube Entrevista: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Entrevista a un líder estudiantil o profesional sobre sus experiencias y visión para el futuro de la formación profesional.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Mensual.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Reflexivo e intelectual.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Instagram Carrousel: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Serie de imágenes explicando los valores de Gabriel y cómo se reflejan en sus actividades.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Cada 2 semanas.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Informativo y motivacional.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Twitter Encuesta: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Encuesta sobre los temas que más preocupan a los jóvenes profesionales hoy en día.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Mensual.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Coyuntural y participativo.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/>
          <p:nvPr/>
        </p:nvSpPr>
        <p:spPr>
          <a:xfrm>
            <a:off x="932250" y="1210100"/>
            <a:ext cx="7800900" cy="362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26"/>
          <p:cNvCxnSpPr/>
          <p:nvPr/>
        </p:nvCxnSpPr>
        <p:spPr>
          <a:xfrm>
            <a:off x="923575" y="676875"/>
            <a:ext cx="19500" cy="41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26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1787700" y="257450"/>
            <a:ext cx="599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E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TEMAS Y CONTENIDOS </a:t>
            </a:r>
            <a:endParaRPr b="1" sz="2200">
              <a:solidFill>
                <a:srgbClr val="4E71E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E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TRABAJAR</a:t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932250" y="1210100"/>
            <a:ext cx="7800900" cy="3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TikTok Memes: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Memes educativos que aborden de manera humorística los desafíos del joven profesional.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2 veces por semana.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Divertido e informal.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Instagram Stories: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Actualizaciones diarias de eventos y logros de Gabriel en diferentes actividades del PRO y el Ministerio de Trabajo.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Diario.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Informativo y motivacional.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YouTube Video Educativo: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Descripción:</a:t>
            </a:r>
            <a:r>
              <a:rPr lang="en" sz="1100">
                <a:solidFill>
                  <a:schemeClr val="dk1"/>
                </a:solidFill>
              </a:rPr>
              <a:t> Video explicando la importancia de la capacitación profesional para jóvenes y cómo acceder a estos programas en Santa Fe.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Frecuencia:</a:t>
            </a:r>
            <a:r>
              <a:rPr lang="en" sz="1100">
                <a:solidFill>
                  <a:schemeClr val="dk1"/>
                </a:solidFill>
              </a:rPr>
              <a:t> Mensual.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Enfoque:</a:t>
            </a:r>
            <a:r>
              <a:rPr lang="en" sz="1100">
                <a:solidFill>
                  <a:schemeClr val="dk1"/>
                </a:solidFill>
              </a:rPr>
              <a:t> Informativo y sofisticado.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7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7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1303375" y="683675"/>
            <a:ext cx="755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2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¿Cuáles son los </a:t>
            </a:r>
            <a:r>
              <a:rPr b="1" lang="en" sz="22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TEMAS sobre los que trabajan</a:t>
            </a:r>
            <a:r>
              <a:rPr lang="en" sz="22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r>
              <a:rPr lang="en" sz="2200">
                <a:solidFill>
                  <a:srgbClr val="3B65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500">
              <a:solidFill>
                <a:srgbClr val="3B65E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1369775" y="3745775"/>
            <a:ext cx="1782000" cy="554100"/>
          </a:xfrm>
          <a:prstGeom prst="rect">
            <a:avLst/>
          </a:prstGeom>
          <a:solidFill>
            <a:srgbClr val="4A57C4"/>
          </a:solidFill>
          <a:ln>
            <a:noFill/>
          </a:ln>
          <a:effectLst>
            <a:outerShdw blurRad="57150" rotWithShape="0" algn="bl" dir="3360000" dist="47625">
              <a:srgbClr val="000000">
                <a:alpha val="71000"/>
              </a:srgbClr>
            </a:outerShdw>
          </a:effectLst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BLANDO</a:t>
            </a:r>
            <a:endParaRPr b="1"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“Profundo”</a:t>
            </a:r>
            <a:endParaRPr i="1"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3597975" y="3792725"/>
            <a:ext cx="4790400" cy="52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POLÍTICAS PÚBLICAS ASUMIDAS. CASOS DE ÉTICA, DE RESPONSABILIDAD, INCLUSIÓN, TRANSPARENCIA</a:t>
            </a:r>
            <a:endParaRPr b="1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1369775" y="2672875"/>
            <a:ext cx="1782000" cy="554100"/>
          </a:xfrm>
          <a:prstGeom prst="rect">
            <a:avLst/>
          </a:prstGeom>
          <a:solidFill>
            <a:srgbClr val="4A57C4"/>
          </a:solidFill>
          <a:ln>
            <a:noFill/>
          </a:ln>
          <a:effectLst>
            <a:outerShdw blurRad="57150" rotWithShape="0" algn="bl" dir="2760000" dist="47625">
              <a:srgbClr val="000000">
                <a:alpha val="77000"/>
              </a:srgbClr>
            </a:outerShdw>
          </a:effectLst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BLANDO</a:t>
            </a:r>
            <a:endParaRPr b="1"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“Feliz”</a:t>
            </a:r>
            <a:endParaRPr i="1"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597975" y="2690950"/>
            <a:ext cx="4790400" cy="52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INNOVACIÓN EN LA GESTIÓN, EJEMPLOS DE SOSTENIBILIDAD, COLABORACIÓN O MERITOCRACIA</a:t>
            </a:r>
            <a:endParaRPr b="1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1354125" y="1710025"/>
            <a:ext cx="1782000" cy="554100"/>
          </a:xfrm>
          <a:prstGeom prst="rect">
            <a:avLst/>
          </a:prstGeom>
          <a:solidFill>
            <a:srgbClr val="4A57C4"/>
          </a:solidFill>
          <a:ln>
            <a:noFill/>
          </a:ln>
          <a:effectLst>
            <a:outerShdw blurRad="57150" rotWithShape="0" algn="bl" dir="3660000" dist="38100">
              <a:srgbClr val="000000">
                <a:alpha val="80000"/>
              </a:srgbClr>
            </a:outerShdw>
          </a:effectLst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DURO</a:t>
            </a:r>
            <a:endParaRPr b="1"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valores</a:t>
            </a:r>
            <a:endParaRPr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3566675" y="1633825"/>
            <a:ext cx="4790400" cy="73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 HABLAMOS DE LA CORRUPCIÓN EN EL ESTADO, VULNERACIONES A LA EDUCACIÓN O A LIBERTADES INDIVIDUALES.</a:t>
            </a:r>
            <a:endParaRPr b="1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28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28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rgbClr val="7F7F7F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1343700" y="933250"/>
            <a:ext cx="64566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800">
                <a:solidFill>
                  <a:srgbClr val="4A57C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¿Cuándo?</a:t>
            </a:r>
            <a:r>
              <a:rPr b="1" lang="en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Instagram/TikTok/YouTube Shorts: Contenido informal, divertido y disruptivo. Publicar 5 veces por semana.</a:t>
            </a:r>
            <a:endParaRPr sz="21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Twitter: Contenido crítico, confrontativo y reivindicativo. Hilos de Twitter y tweets de coyuntura.</a:t>
            </a:r>
            <a:endParaRPr sz="21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Medios Tradicionales y Digitales:</a:t>
            </a:r>
            <a:endParaRPr sz="21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Entrevistas y artículos de opinión en medios de comunicación.</a:t>
            </a:r>
            <a:endParaRPr sz="21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Eventos y paneles de discusión sobre temas de interés público.</a:t>
            </a:r>
            <a:endParaRPr sz="21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2" name="Google Shape;182;p28"/>
          <p:cNvCxnSpPr/>
          <p:nvPr/>
        </p:nvCxnSpPr>
        <p:spPr>
          <a:xfrm>
            <a:off x="1383775" y="2449800"/>
            <a:ext cx="663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9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9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1390750" y="816425"/>
            <a:ext cx="558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FORMATOS INSTAGRAM</a:t>
            </a:r>
            <a:endParaRPr b="1" sz="2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1588425" y="1500200"/>
            <a:ext cx="5773800" cy="255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Instagram: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Reels: Reflexivo, informativo y motivacional.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Carrousel: Informativo y motivacional.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Stories: Mostrar estructura y menciones.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TikTok: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Memes y videos cortos: Divertidos e informales.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Plantillas de video para contenido viral.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Twitter: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Hilos: Explicativos y de coyuntura.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Tweets: Defender posturas y confrontar con opositores.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30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30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PRÁCTICA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1390750" y="816425"/>
            <a:ext cx="558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Programas de Visibilidad</a:t>
            </a:r>
            <a:endParaRPr b="1" sz="2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1588425" y="1500200"/>
            <a:ext cx="5773800" cy="34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Carteles y Publicidad Exterior: Aumentar la presencia visual en áreas clave del distrito.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Mailing y Boletines Informativos: Envío regular de actualizaciones y logros a través de correo y correo electrónico.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Iniciativas de Participación: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Foros Comunitarios: Organizar reuniones para escuchar y discutir las preocupaciones de los ciudadanos.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Campañas de Voluntariado: Fomentar la participación ciudadana en actividades de campaña.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Recaudación de Fondos: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Eventos de Recaudación: Organizar cenas y eventos con potenciales donantes.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Plataformas Online: Utilizar plataformas de crowdfunding para pequeños donantes.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284100" y="264500"/>
            <a:ext cx="5406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CON QUIÉN.</a:t>
            </a:r>
            <a:endParaRPr b="1" sz="10000">
              <a:solidFill>
                <a:srgbClr val="FFFFFF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cxnSp>
        <p:nvCxnSpPr>
          <p:cNvPr id="204" name="Google Shape;204;p31"/>
          <p:cNvCxnSpPr/>
          <p:nvPr/>
        </p:nvCxnSpPr>
        <p:spPr>
          <a:xfrm>
            <a:off x="460775" y="1939500"/>
            <a:ext cx="8036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1"/>
          <p:cNvSpPr/>
          <p:nvPr/>
        </p:nvSpPr>
        <p:spPr>
          <a:xfrm>
            <a:off x="8261750" y="4136225"/>
            <a:ext cx="235800" cy="4287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5375" y="307375"/>
            <a:ext cx="792175" cy="3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398225" y="2054550"/>
            <a:ext cx="786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¿Cómo está formado el equipo de trabajo y cuáles son sus tareas?</a:t>
            </a:r>
            <a:endParaRPr sz="1600">
              <a:highlight>
                <a:schemeClr val="lt1"/>
              </a:highlight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958100" y="2571750"/>
            <a:ext cx="63285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CONTENIDO IG/TK/YT:</a:t>
            </a:r>
            <a:endParaRPr sz="1800"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ntonio"/>
                <a:ea typeface="Antonio"/>
                <a:cs typeface="Antonio"/>
                <a:sym typeface="Antonio"/>
              </a:rPr>
              <a:t>TWITTER:</a:t>
            </a:r>
            <a:br>
              <a:rPr lang="en" sz="1800">
                <a:latin typeface="Antonio"/>
                <a:ea typeface="Antonio"/>
                <a:cs typeface="Antonio"/>
                <a:sym typeface="Antonio"/>
              </a:rPr>
            </a:br>
            <a:endParaRPr sz="1800"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/>
        </p:nvSpPr>
        <p:spPr>
          <a:xfrm>
            <a:off x="284100" y="264500"/>
            <a:ext cx="5406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DISEÑO</a:t>
            </a:r>
            <a:endParaRPr b="1" sz="10000">
              <a:solidFill>
                <a:srgbClr val="FFFFFF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cxnSp>
        <p:nvCxnSpPr>
          <p:cNvPr id="214" name="Google Shape;214;p32"/>
          <p:cNvCxnSpPr/>
          <p:nvPr/>
        </p:nvCxnSpPr>
        <p:spPr>
          <a:xfrm>
            <a:off x="460775" y="1939500"/>
            <a:ext cx="8036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2"/>
          <p:cNvSpPr/>
          <p:nvPr/>
        </p:nvSpPr>
        <p:spPr>
          <a:xfrm>
            <a:off x="8261750" y="4136225"/>
            <a:ext cx="235800" cy="4287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5375" y="307375"/>
            <a:ext cx="792175" cy="3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/>
        </p:nvSpPr>
        <p:spPr>
          <a:xfrm>
            <a:off x="398225" y="2054550"/>
            <a:ext cx="786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Manual de Marca: colores, tipografía, estilo</a:t>
            </a:r>
            <a:endParaRPr sz="1600">
              <a:highlight>
                <a:schemeClr val="lt1"/>
              </a:highlight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958100" y="2571750"/>
            <a:ext cx="63285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Antonio"/>
                <a:ea typeface="Antonio"/>
                <a:cs typeface="Antonio"/>
                <a:sym typeface="Antonio"/>
              </a:rPr>
            </a:br>
            <a:endParaRPr sz="1800"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33"/>
          <p:cNvCxnSpPr/>
          <p:nvPr/>
        </p:nvCxnSpPr>
        <p:spPr>
          <a:xfrm>
            <a:off x="923575" y="676875"/>
            <a:ext cx="0" cy="384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33"/>
          <p:cNvSpPr txBox="1"/>
          <p:nvPr/>
        </p:nvSpPr>
        <p:spPr>
          <a:xfrm rot="-5400000">
            <a:off x="-1271675" y="2409574"/>
            <a:ext cx="38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Evaluación y Ajustes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1390750" y="816425"/>
            <a:ext cx="558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de Éxito</a:t>
            </a:r>
            <a:endParaRPr b="1" sz="2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1588425" y="1500200"/>
            <a:ext cx="5773800" cy="21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Reconocimiento del Nombre: Medido a través de encuestas y seguimiento en redes sociales.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Participación y Crecimiento en Redes Sociales: Aumento de seguidores y nivel de interacción.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Asistencia a Eventos y Reuniones: Incremento en la participación ciudadana.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Resultados en Encuestas de Opinión Pública: Mejoras en la percepción y apoyo a Yamil Santoro.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239224" cy="51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