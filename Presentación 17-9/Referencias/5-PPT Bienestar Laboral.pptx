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"/>
      <p:regular r:id="rId15"/>
      <p:bold r:id="rId16"/>
    </p:embeddedFont>
    <p:embeddedFont>
      <p:font typeface="Inter Black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706">
          <p15:clr>
            <a:srgbClr val="747775"/>
          </p15:clr>
        </p15:guide>
        <p15:guide id="2" pos="737">
          <p15:clr>
            <a:srgbClr val="747775"/>
          </p15:clr>
        </p15:guide>
        <p15:guide id="3" orient="horz" pos="964">
          <p15:clr>
            <a:srgbClr val="747775"/>
          </p15:clr>
        </p15:guide>
        <p15:guide id="4" orient="horz" pos="680">
          <p15:clr>
            <a:srgbClr val="747775"/>
          </p15:clr>
        </p15:guide>
        <p15:guide id="5" orient="horz" pos="907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JP+3tBuCBrBMm8jJGyzIYszpP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06"/>
        <p:guide pos="737"/>
        <p:guide pos="964" orient="horz"/>
        <p:guide pos="680" orient="horz"/>
        <p:guide pos="90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Black-bold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11f1546b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211f1546b3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11f1546b3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211f1546b35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1f1546b3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211f1546b35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120816e39d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120816e39d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1f1546b3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11f1546b35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OBJECT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120816e39d_1_138"/>
          <p:cNvSpPr txBox="1"/>
          <p:nvPr>
            <p:ph idx="11" type="ftr"/>
          </p:nvPr>
        </p:nvSpPr>
        <p:spPr>
          <a:xfrm>
            <a:off x="4145280" y="6377939"/>
            <a:ext cx="39015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2" name="Google Shape;82;g2120816e39d_1_138"/>
          <p:cNvSpPr txBox="1"/>
          <p:nvPr>
            <p:ph idx="10" type="dt"/>
          </p:nvPr>
        </p:nvSpPr>
        <p:spPr>
          <a:xfrm>
            <a:off x="609600" y="6377939"/>
            <a:ext cx="28044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3" name="Google Shape;83;g2120816e39d_1_138"/>
          <p:cNvSpPr txBox="1"/>
          <p:nvPr>
            <p:ph idx="12" type="sldNum"/>
          </p:nvPr>
        </p:nvSpPr>
        <p:spPr>
          <a:xfrm>
            <a:off x="8778240" y="6377939"/>
            <a:ext cx="280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30.jp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jp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6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15" Type="http://schemas.openxmlformats.org/officeDocument/2006/relationships/image" Target="../media/image25.png"/><Relationship Id="rId14" Type="http://schemas.openxmlformats.org/officeDocument/2006/relationships/image" Target="../media/image27.png"/><Relationship Id="rId17" Type="http://schemas.openxmlformats.org/officeDocument/2006/relationships/image" Target="../media/image26.png"/><Relationship Id="rId16" Type="http://schemas.openxmlformats.org/officeDocument/2006/relationships/image" Target="../media/image28.png"/><Relationship Id="rId5" Type="http://schemas.openxmlformats.org/officeDocument/2006/relationships/image" Target="../media/image18.png"/><Relationship Id="rId19" Type="http://schemas.openxmlformats.org/officeDocument/2006/relationships/image" Target="../media/image32.png"/><Relationship Id="rId6" Type="http://schemas.openxmlformats.org/officeDocument/2006/relationships/image" Target="../media/image13.png"/><Relationship Id="rId18" Type="http://schemas.openxmlformats.org/officeDocument/2006/relationships/image" Target="../media/image29.png"/><Relationship Id="rId7" Type="http://schemas.openxmlformats.org/officeDocument/2006/relationships/image" Target="../media/image21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2694" y="-351000"/>
            <a:ext cx="13437388" cy="7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1021071" y="1097350"/>
            <a:ext cx="7960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4A63"/>
              </a:buClr>
              <a:buSzPts val="2200"/>
              <a:buFont typeface="Arial"/>
              <a:buNone/>
            </a:pPr>
            <a:r>
              <a:rPr lang="es-ES" sz="2200">
                <a:solidFill>
                  <a:srgbClr val="4A4A63"/>
                </a:solidFill>
                <a:latin typeface="Arial"/>
                <a:ea typeface="Arial"/>
                <a:cs typeface="Arial"/>
                <a:sym typeface="Arial"/>
              </a:rPr>
              <a:t>Secretaría de Empleo y Desarrollo Emprendedor</a:t>
            </a:r>
            <a:endParaRPr sz="2200">
              <a:solidFill>
                <a:srgbClr val="4A4A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1021080" y="2080568"/>
            <a:ext cx="57507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4A4A63"/>
              </a:buClr>
              <a:buSzPts val="6000"/>
              <a:buNone/>
            </a:pPr>
            <a:r>
              <a:rPr lang="es-ES" sz="6700">
                <a:solidFill>
                  <a:srgbClr val="434343"/>
                </a:solidFill>
                <a:latin typeface="Inter Black"/>
                <a:ea typeface="Inter Black"/>
                <a:cs typeface="Inter Black"/>
                <a:sym typeface="Inter Black"/>
              </a:rPr>
              <a:t>Bienestar laboral</a:t>
            </a:r>
            <a:endParaRPr sz="6700">
              <a:solidFill>
                <a:srgbClr val="434343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28034"/>
            <a:ext cx="12192000" cy="102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175" y="2217000"/>
            <a:ext cx="6255088" cy="2814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 b="20" l="17518" r="0" t="-20"/>
          <a:stretch/>
        </p:blipFill>
        <p:spPr>
          <a:xfrm>
            <a:off x="5923026" y="2155875"/>
            <a:ext cx="6255100" cy="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5">
            <a:alphaModFix/>
          </a:blip>
          <a:srcRect b="20" l="17518" r="0" t="-20"/>
          <a:stretch/>
        </p:blipFill>
        <p:spPr>
          <a:xfrm>
            <a:off x="5923026" y="5031800"/>
            <a:ext cx="6255100" cy="5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10355000" y="1746225"/>
            <a:ext cx="1881300" cy="408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11f1546b35_0_0"/>
          <p:cNvSpPr txBox="1"/>
          <p:nvPr>
            <p:ph idx="1" type="body"/>
          </p:nvPr>
        </p:nvSpPr>
        <p:spPr>
          <a:xfrm>
            <a:off x="1699925" y="1665827"/>
            <a:ext cx="8742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Hace referencia al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5" name="Google Shape;105;g211f1546b3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38234"/>
            <a:ext cx="12192002" cy="102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11f1546b3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575" y="1530000"/>
            <a:ext cx="4941430" cy="82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211f1546b3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6575" y="2243088"/>
            <a:ext cx="3131551" cy="6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11f1546b35_0_0"/>
          <p:cNvSpPr txBox="1"/>
          <p:nvPr/>
        </p:nvSpPr>
        <p:spPr>
          <a:xfrm>
            <a:off x="4679575" y="2197963"/>
            <a:ext cx="56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s-ES" sz="2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en el ejercicio de sus funciones. 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g211f1546b35_0_0"/>
          <p:cNvSpPr txBox="1"/>
          <p:nvPr/>
        </p:nvSpPr>
        <p:spPr>
          <a:xfrm>
            <a:off x="1699925" y="2759688"/>
            <a:ext cx="337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s-ES" sz="2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Es producto de un 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g211f1546b35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0775" y="2776963"/>
            <a:ext cx="3131551" cy="5810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11f1546b35_0_0"/>
          <p:cNvSpPr txBox="1"/>
          <p:nvPr/>
        </p:nvSpPr>
        <p:spPr>
          <a:xfrm>
            <a:off x="7826125" y="2797200"/>
            <a:ext cx="276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s-ES" sz="2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agradable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g211f1546b35_0_0"/>
          <p:cNvSpPr txBox="1"/>
          <p:nvPr/>
        </p:nvSpPr>
        <p:spPr>
          <a:xfrm>
            <a:off x="1732475" y="3358013"/>
            <a:ext cx="867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s-ES" sz="2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y del reconocimiento en su trabajo que repercute</a:t>
            </a:r>
            <a:endParaRPr b="1" sz="2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3" name="Google Shape;113;g211f1546b35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46100" y="4072849"/>
            <a:ext cx="1707571" cy="44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211f1546b35_0_0"/>
          <p:cNvSpPr txBox="1"/>
          <p:nvPr/>
        </p:nvSpPr>
        <p:spPr>
          <a:xfrm>
            <a:off x="1699925" y="3995038"/>
            <a:ext cx="654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s-ES" sz="2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en un                   </a:t>
            </a:r>
            <a:r>
              <a:rPr b="1" lang="es-ES" sz="2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familiar y social.</a:t>
            </a:r>
            <a:endParaRPr b="1" sz="2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28034"/>
            <a:ext cx="12192000" cy="102996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1066800" y="1795575"/>
            <a:ext cx="106932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Font typeface="Inter"/>
              <a:buChar char="•"/>
            </a:pPr>
            <a:r>
              <a:rPr b="1"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Genera satisfacción </a:t>
            </a:r>
            <a:r>
              <a:rPr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de la vida personal.</a:t>
            </a:r>
            <a:endParaRPr sz="23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Font typeface="Inter"/>
              <a:buChar char="•"/>
            </a:pPr>
            <a:r>
              <a:rPr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Incrementa el valor del </a:t>
            </a:r>
            <a:r>
              <a:rPr b="1"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trabajo en equipo.</a:t>
            </a:r>
            <a:endParaRPr b="1" sz="23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Font typeface="Inter"/>
              <a:buChar char="•"/>
            </a:pPr>
            <a:r>
              <a:rPr b="1"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Reduce </a:t>
            </a:r>
            <a:r>
              <a:rPr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el nivel de</a:t>
            </a:r>
            <a:r>
              <a:rPr b="1"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ausentismo. </a:t>
            </a:r>
            <a:endParaRPr b="1" sz="23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Font typeface="Inter"/>
              <a:buChar char="•"/>
            </a:pPr>
            <a:r>
              <a:rPr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Fortalece</a:t>
            </a:r>
            <a:r>
              <a:rPr b="1"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b="1"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sentido de pertenencia y potencia la productividad</a:t>
            </a:r>
            <a:endParaRPr b="1" sz="23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Font typeface="Inter"/>
              <a:buChar char="•"/>
            </a:pPr>
            <a:r>
              <a:rPr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Ayuda a </a:t>
            </a:r>
            <a:r>
              <a:rPr b="1"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retener los talentos </a:t>
            </a:r>
            <a:r>
              <a:rPr lang="es-ES" sz="23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de cada organización productiva.</a:t>
            </a:r>
            <a:endParaRPr sz="23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6800" y="973675"/>
            <a:ext cx="2242813" cy="5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11f1546b35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28034"/>
            <a:ext cx="12192002" cy="102996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11f1546b35_0_40"/>
          <p:cNvSpPr txBox="1"/>
          <p:nvPr>
            <p:ph idx="1" type="body"/>
          </p:nvPr>
        </p:nvSpPr>
        <p:spPr>
          <a:xfrm>
            <a:off x="987475" y="1711950"/>
            <a:ext cx="106932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ter"/>
              <a:buChar char="•"/>
            </a:pPr>
            <a:r>
              <a:rPr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Talleres de </a:t>
            </a:r>
            <a:r>
              <a:rPr b="1"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violencia laboral y estrés.</a:t>
            </a:r>
            <a:endParaRPr b="1" sz="21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ter"/>
              <a:buChar char="•"/>
            </a:pPr>
            <a:r>
              <a:rPr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Talleres de </a:t>
            </a:r>
            <a:r>
              <a:rPr b="1"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cuidado de la salud y RCP.</a:t>
            </a:r>
            <a:endParaRPr b="1" sz="21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ter"/>
              <a:buChar char="•"/>
            </a:pPr>
            <a:r>
              <a:rPr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Charlas de salud mental y trabajo.  </a:t>
            </a:r>
            <a:endParaRPr sz="21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ter"/>
              <a:buChar char="•"/>
            </a:pPr>
            <a:r>
              <a:rPr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Taller de </a:t>
            </a:r>
            <a:r>
              <a:rPr b="1"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administración financier</a:t>
            </a:r>
            <a:r>
              <a:rPr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 para trabajadores.</a:t>
            </a:r>
            <a:endParaRPr sz="21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rgbClr val="434343"/>
              </a:buClr>
              <a:buSzPts val="3000"/>
              <a:buFont typeface="Inter"/>
              <a:buChar char="•"/>
            </a:pPr>
            <a:r>
              <a:rPr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Charlas de </a:t>
            </a:r>
            <a:r>
              <a:rPr b="1"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sensibilización sobre la importancia del Bienestar Laboral</a:t>
            </a:r>
            <a:r>
              <a:rPr lang="es-ES" sz="21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en cámaras empresariales y de representantes de trabajadores.</a:t>
            </a:r>
            <a:endParaRPr sz="30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8" name="Google Shape;128;g211f1546b35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2050" y="932450"/>
            <a:ext cx="3048000" cy="7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211f1546b35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980434"/>
            <a:ext cx="12192002" cy="1029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11f1546b35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875" y="1774050"/>
            <a:ext cx="1769800" cy="2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11f1546b35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828034"/>
            <a:ext cx="12192002" cy="102996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11f1546b35_0_17"/>
          <p:cNvSpPr txBox="1"/>
          <p:nvPr>
            <p:ph idx="1" type="body"/>
          </p:nvPr>
        </p:nvSpPr>
        <p:spPr>
          <a:xfrm>
            <a:off x="1236450" y="1767350"/>
            <a:ext cx="100239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 cuidarnos</a:t>
            </a:r>
            <a:r>
              <a:rPr lang="es-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-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debemos tener la información y ponerla en conocimiento de los trabajadores,</a:t>
            </a:r>
            <a:r>
              <a:rPr lang="es-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sus representantes, cámaras empresarias y otras organizaciones para lograr una vida más saludable, en definitiva, mayor bienestar laboral. </a:t>
            </a:r>
            <a:endParaRPr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3200"/>
              <a:buFont typeface="Inter"/>
              <a:buChar char="•"/>
            </a:pPr>
            <a:r>
              <a:rPr lang="es-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Realizamos jornadas de vacunación a 40 trabajadores del hipódromo de Rosario. 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200"/>
              <a:buFont typeface="Inter"/>
              <a:buChar char="•"/>
            </a:pPr>
            <a:r>
              <a:rPr lang="es-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Talleres de “cuidado de la salud y RCP” destinado a 15 trabajadores del hipódromo Rosario y a 15 del sector textil Rosario.  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200"/>
              <a:buFont typeface="Inter"/>
              <a:buChar char="•"/>
            </a:pPr>
            <a:r>
              <a:rPr lang="es-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Hicimos entregas de vacunas antigripales para 20 trabajadores con factores de riesgos de la empresa Briket y gestionamos otras del calendario para todo el personal de dicha empresa. 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7" name="Google Shape;137;g211f1546b35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5980434"/>
            <a:ext cx="12192002" cy="102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11f1546b35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775" y="813575"/>
            <a:ext cx="7375506" cy="10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2120816e39d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575" y="3814225"/>
            <a:ext cx="2358525" cy="2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120816e39d_1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775" y="813575"/>
            <a:ext cx="7375506" cy="102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2120816e39d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575" y="1833025"/>
            <a:ext cx="201440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120816e39d_1_26"/>
          <p:cNvSpPr txBox="1"/>
          <p:nvPr/>
        </p:nvSpPr>
        <p:spPr>
          <a:xfrm>
            <a:off x="1017650" y="2477725"/>
            <a:ext cx="72855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2120816e39d_1_26"/>
          <p:cNvSpPr txBox="1"/>
          <p:nvPr/>
        </p:nvSpPr>
        <p:spPr>
          <a:xfrm>
            <a:off x="1193375" y="1756825"/>
            <a:ext cx="10451700" cy="39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-E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 respetarnos, </a:t>
            </a:r>
            <a:r>
              <a:rPr lang="es-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debemos usar las herramientas a nuestro alcance que ayuden a evitar o encauzar situaciones conflictivas y así lograr un entorno laboral más afectivo.</a:t>
            </a:r>
            <a:endParaRPr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Inter"/>
              <a:buChar char="●"/>
            </a:pPr>
            <a:r>
              <a:rPr lang="es-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Se llevaron a cabo charlas-talleres sobre “violencia laboral y estrés” para 40 trabajadores del sector gastronómico (Santa fe) y 25 del S.U.T.E.R.Y.H ( Sindicato de trabajadores de edificios de renta y propiedad horizontal-Rosario) 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-ES" sz="180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Para desarrollarnos</a:t>
            </a:r>
            <a:r>
              <a:rPr lang="es-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, los trabajadores deben estar cuidados, protegidos, motivados, seguros y así sentirse partícipe de los espacios de trabajos colaborativos logrando mayor éxito de la organización laboral.</a:t>
            </a:r>
            <a:endParaRPr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Inter"/>
              <a:buChar char="●"/>
            </a:pPr>
            <a:r>
              <a:rPr lang="es-ES" sz="16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Se realizaron jornadas de charlas  sobre factores de riesgos, sensibilización,prevención, normativas legales de seguridad, higiene, salud  y su impacto en el bienestar laboral para 60 trabajadores y delegados   de UTEDYC (Rosario)</a:t>
            </a:r>
            <a:endParaRPr sz="16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211f1546b35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28034"/>
            <a:ext cx="12192002" cy="102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211f1546b35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980434"/>
            <a:ext cx="12192002" cy="102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211f1546b35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8250" y="1268350"/>
            <a:ext cx="3912151" cy="69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211f1546b35_0_63"/>
          <p:cNvSpPr/>
          <p:nvPr/>
        </p:nvSpPr>
        <p:spPr>
          <a:xfrm>
            <a:off x="631307" y="660893"/>
            <a:ext cx="911914" cy="374055"/>
          </a:xfrm>
          <a:custGeom>
            <a:rect b="b" l="l" r="r" t="t"/>
            <a:pathLst>
              <a:path extrusionOk="0" h="206375" w="537210">
                <a:moveTo>
                  <a:pt x="220776" y="11938"/>
                </a:moveTo>
                <a:lnTo>
                  <a:pt x="156032" y="11938"/>
                </a:lnTo>
                <a:lnTo>
                  <a:pt x="111506" y="120459"/>
                </a:lnTo>
                <a:lnTo>
                  <a:pt x="109270" y="120459"/>
                </a:lnTo>
                <a:lnTo>
                  <a:pt x="64757" y="11938"/>
                </a:lnTo>
                <a:lnTo>
                  <a:pt x="0" y="11938"/>
                </a:lnTo>
                <a:lnTo>
                  <a:pt x="0" y="203517"/>
                </a:lnTo>
                <a:lnTo>
                  <a:pt x="50888" y="203517"/>
                </a:lnTo>
                <a:lnTo>
                  <a:pt x="50888" y="92011"/>
                </a:lnTo>
                <a:lnTo>
                  <a:pt x="52374" y="92011"/>
                </a:lnTo>
                <a:lnTo>
                  <a:pt x="95046" y="202031"/>
                </a:lnTo>
                <a:lnTo>
                  <a:pt x="125730" y="202031"/>
                </a:lnTo>
                <a:lnTo>
                  <a:pt x="168363" y="92760"/>
                </a:lnTo>
                <a:lnTo>
                  <a:pt x="169900" y="92760"/>
                </a:lnTo>
                <a:lnTo>
                  <a:pt x="169900" y="203517"/>
                </a:lnTo>
                <a:lnTo>
                  <a:pt x="220776" y="203517"/>
                </a:lnTo>
                <a:lnTo>
                  <a:pt x="220776" y="11938"/>
                </a:lnTo>
                <a:close/>
              </a:path>
              <a:path extrusionOk="0" h="206375" w="537210">
                <a:moveTo>
                  <a:pt x="357352" y="0"/>
                </a:moveTo>
                <a:lnTo>
                  <a:pt x="313194" y="0"/>
                </a:lnTo>
                <a:lnTo>
                  <a:pt x="295236" y="41884"/>
                </a:lnTo>
                <a:lnTo>
                  <a:pt x="329260" y="41884"/>
                </a:lnTo>
                <a:lnTo>
                  <a:pt x="357352" y="0"/>
                </a:lnTo>
                <a:close/>
              </a:path>
              <a:path extrusionOk="0" h="206375" w="537210">
                <a:moveTo>
                  <a:pt x="377151" y="98513"/>
                </a:moveTo>
                <a:lnTo>
                  <a:pt x="376085" y="94030"/>
                </a:lnTo>
                <a:lnTo>
                  <a:pt x="375958" y="93510"/>
                </a:lnTo>
                <a:lnTo>
                  <a:pt x="375666" y="92278"/>
                </a:lnTo>
                <a:lnTo>
                  <a:pt x="346773" y="63957"/>
                </a:lnTo>
                <a:lnTo>
                  <a:pt x="325920" y="58953"/>
                </a:lnTo>
                <a:lnTo>
                  <a:pt x="325920" y="140652"/>
                </a:lnTo>
                <a:lnTo>
                  <a:pt x="325920" y="156984"/>
                </a:lnTo>
                <a:lnTo>
                  <a:pt x="306997" y="173228"/>
                </a:lnTo>
                <a:lnTo>
                  <a:pt x="298704" y="173228"/>
                </a:lnTo>
                <a:lnTo>
                  <a:pt x="295148" y="172173"/>
                </a:lnTo>
                <a:lnTo>
                  <a:pt x="292341" y="170027"/>
                </a:lnTo>
                <a:lnTo>
                  <a:pt x="289521" y="167919"/>
                </a:lnTo>
                <a:lnTo>
                  <a:pt x="288124" y="164846"/>
                </a:lnTo>
                <a:lnTo>
                  <a:pt x="288124" y="158394"/>
                </a:lnTo>
                <a:lnTo>
                  <a:pt x="309372" y="145262"/>
                </a:lnTo>
                <a:lnTo>
                  <a:pt x="311264" y="144868"/>
                </a:lnTo>
                <a:lnTo>
                  <a:pt x="313194" y="144513"/>
                </a:lnTo>
                <a:lnTo>
                  <a:pt x="314985" y="144081"/>
                </a:lnTo>
                <a:lnTo>
                  <a:pt x="320040" y="142760"/>
                </a:lnTo>
                <a:lnTo>
                  <a:pt x="321576" y="142240"/>
                </a:lnTo>
                <a:lnTo>
                  <a:pt x="323062" y="141757"/>
                </a:lnTo>
                <a:lnTo>
                  <a:pt x="324510" y="141224"/>
                </a:lnTo>
                <a:lnTo>
                  <a:pt x="325920" y="140652"/>
                </a:lnTo>
                <a:lnTo>
                  <a:pt x="325920" y="58953"/>
                </a:lnTo>
                <a:lnTo>
                  <a:pt x="325577" y="58889"/>
                </a:lnTo>
                <a:lnTo>
                  <a:pt x="318452" y="58216"/>
                </a:lnTo>
                <a:lnTo>
                  <a:pt x="310946" y="57988"/>
                </a:lnTo>
                <a:lnTo>
                  <a:pt x="300672" y="58407"/>
                </a:lnTo>
                <a:lnTo>
                  <a:pt x="262597" y="72466"/>
                </a:lnTo>
                <a:lnTo>
                  <a:pt x="245097" y="106629"/>
                </a:lnTo>
                <a:lnTo>
                  <a:pt x="292608" y="106629"/>
                </a:lnTo>
                <a:lnTo>
                  <a:pt x="293217" y="102196"/>
                </a:lnTo>
                <a:lnTo>
                  <a:pt x="295109" y="98907"/>
                </a:lnTo>
                <a:lnTo>
                  <a:pt x="301244" y="94602"/>
                </a:lnTo>
                <a:lnTo>
                  <a:pt x="305244" y="93510"/>
                </a:lnTo>
                <a:lnTo>
                  <a:pt x="314680" y="93510"/>
                </a:lnTo>
                <a:lnTo>
                  <a:pt x="318681" y="94602"/>
                </a:lnTo>
                <a:lnTo>
                  <a:pt x="318490" y="94602"/>
                </a:lnTo>
                <a:lnTo>
                  <a:pt x="321221" y="96494"/>
                </a:lnTo>
                <a:lnTo>
                  <a:pt x="324078" y="98513"/>
                </a:lnTo>
                <a:lnTo>
                  <a:pt x="325526" y="101371"/>
                </a:lnTo>
                <a:lnTo>
                  <a:pt x="325526" y="108254"/>
                </a:lnTo>
                <a:lnTo>
                  <a:pt x="284835" y="118795"/>
                </a:lnTo>
                <a:lnTo>
                  <a:pt x="277901" y="119976"/>
                </a:lnTo>
                <a:lnTo>
                  <a:pt x="240792" y="149301"/>
                </a:lnTo>
                <a:lnTo>
                  <a:pt x="239483" y="156108"/>
                </a:lnTo>
                <a:lnTo>
                  <a:pt x="239483" y="173405"/>
                </a:lnTo>
                <a:lnTo>
                  <a:pt x="268986" y="204266"/>
                </a:lnTo>
                <a:lnTo>
                  <a:pt x="277063" y="205765"/>
                </a:lnTo>
                <a:lnTo>
                  <a:pt x="292468" y="205765"/>
                </a:lnTo>
                <a:lnTo>
                  <a:pt x="327761" y="183324"/>
                </a:lnTo>
                <a:lnTo>
                  <a:pt x="328904" y="183324"/>
                </a:lnTo>
                <a:lnTo>
                  <a:pt x="328904" y="203517"/>
                </a:lnTo>
                <a:lnTo>
                  <a:pt x="377151" y="203517"/>
                </a:lnTo>
                <a:lnTo>
                  <a:pt x="377151" y="183324"/>
                </a:lnTo>
                <a:lnTo>
                  <a:pt x="377151" y="173228"/>
                </a:lnTo>
                <a:lnTo>
                  <a:pt x="377151" y="140652"/>
                </a:lnTo>
                <a:lnTo>
                  <a:pt x="377151" y="98513"/>
                </a:lnTo>
                <a:close/>
              </a:path>
              <a:path extrusionOk="0" h="206375" w="537210">
                <a:moveTo>
                  <a:pt x="536905" y="156019"/>
                </a:moveTo>
                <a:lnTo>
                  <a:pt x="512394" y="122478"/>
                </a:lnTo>
                <a:lnTo>
                  <a:pt x="458457" y="110845"/>
                </a:lnTo>
                <a:lnTo>
                  <a:pt x="454774" y="109448"/>
                </a:lnTo>
                <a:lnTo>
                  <a:pt x="450951" y="105841"/>
                </a:lnTo>
                <a:lnTo>
                  <a:pt x="450024" y="103873"/>
                </a:lnTo>
                <a:lnTo>
                  <a:pt x="450024" y="98780"/>
                </a:lnTo>
                <a:lnTo>
                  <a:pt x="451612" y="96443"/>
                </a:lnTo>
                <a:lnTo>
                  <a:pt x="457974" y="93205"/>
                </a:lnTo>
                <a:lnTo>
                  <a:pt x="461746" y="92405"/>
                </a:lnTo>
                <a:lnTo>
                  <a:pt x="469607" y="92405"/>
                </a:lnTo>
                <a:lnTo>
                  <a:pt x="485635" y="106629"/>
                </a:lnTo>
                <a:lnTo>
                  <a:pt x="533171" y="106629"/>
                </a:lnTo>
                <a:lnTo>
                  <a:pt x="514210" y="70904"/>
                </a:lnTo>
                <a:lnTo>
                  <a:pt x="465086" y="57988"/>
                </a:lnTo>
                <a:lnTo>
                  <a:pt x="455193" y="58331"/>
                </a:lnTo>
                <a:lnTo>
                  <a:pt x="416483" y="70154"/>
                </a:lnTo>
                <a:lnTo>
                  <a:pt x="398843" y="104749"/>
                </a:lnTo>
                <a:lnTo>
                  <a:pt x="399491" y="112826"/>
                </a:lnTo>
                <a:lnTo>
                  <a:pt x="432308" y="144678"/>
                </a:lnTo>
                <a:lnTo>
                  <a:pt x="473697" y="152514"/>
                </a:lnTo>
                <a:lnTo>
                  <a:pt x="477824" y="153822"/>
                </a:lnTo>
                <a:lnTo>
                  <a:pt x="483133" y="157073"/>
                </a:lnTo>
                <a:lnTo>
                  <a:pt x="484441" y="159232"/>
                </a:lnTo>
                <a:lnTo>
                  <a:pt x="484441" y="164973"/>
                </a:lnTo>
                <a:lnTo>
                  <a:pt x="482917" y="167297"/>
                </a:lnTo>
                <a:lnTo>
                  <a:pt x="476719" y="170548"/>
                </a:lnTo>
                <a:lnTo>
                  <a:pt x="472808" y="171348"/>
                </a:lnTo>
                <a:lnTo>
                  <a:pt x="462191" y="171348"/>
                </a:lnTo>
                <a:lnTo>
                  <a:pt x="457365" y="170116"/>
                </a:lnTo>
                <a:lnTo>
                  <a:pt x="449681" y="165201"/>
                </a:lnTo>
                <a:lnTo>
                  <a:pt x="447433" y="161683"/>
                </a:lnTo>
                <a:lnTo>
                  <a:pt x="446735" y="157124"/>
                </a:lnTo>
                <a:lnTo>
                  <a:pt x="395465" y="157124"/>
                </a:lnTo>
                <a:lnTo>
                  <a:pt x="416179" y="192684"/>
                </a:lnTo>
                <a:lnTo>
                  <a:pt x="467677" y="206159"/>
                </a:lnTo>
                <a:lnTo>
                  <a:pt x="477380" y="205765"/>
                </a:lnTo>
                <a:lnTo>
                  <a:pt x="517118" y="192608"/>
                </a:lnTo>
                <a:lnTo>
                  <a:pt x="536308" y="163436"/>
                </a:lnTo>
                <a:lnTo>
                  <a:pt x="536905" y="156019"/>
                </a:ln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g211f1546b35_0_63"/>
          <p:cNvGrpSpPr/>
          <p:nvPr/>
        </p:nvGrpSpPr>
        <p:grpSpPr>
          <a:xfrm>
            <a:off x="1990806" y="2747923"/>
            <a:ext cx="729480" cy="352725"/>
            <a:chOff x="981871" y="1299323"/>
            <a:chExt cx="429738" cy="194478"/>
          </a:xfrm>
        </p:grpSpPr>
        <p:pic>
          <p:nvPicPr>
            <p:cNvPr id="157" name="Google Shape;157;g211f1546b35_0_6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1871" y="1299323"/>
              <a:ext cx="144677" cy="1944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g211f1546b35_0_6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52536" y="1301882"/>
              <a:ext cx="152571" cy="189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g211f1546b35_0_6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27143" y="1301882"/>
              <a:ext cx="84466" cy="1893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g211f1546b35_0_63"/>
          <p:cNvGrpSpPr/>
          <p:nvPr/>
        </p:nvGrpSpPr>
        <p:grpSpPr>
          <a:xfrm>
            <a:off x="2894299" y="2747923"/>
            <a:ext cx="1930923" cy="352725"/>
            <a:chOff x="1514120" y="1299323"/>
            <a:chExt cx="1137510" cy="194478"/>
          </a:xfrm>
        </p:grpSpPr>
        <p:pic>
          <p:nvPicPr>
            <p:cNvPr id="161" name="Google Shape;161;g211f1546b35_0_6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14120" y="1301882"/>
              <a:ext cx="152571" cy="189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g211f1546b35_0_6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87949" y="1301882"/>
              <a:ext cx="132833" cy="189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g211f1546b35_0_6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47941" y="1301882"/>
              <a:ext cx="132833" cy="189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g211f1546b35_0_6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6370" y="1299323"/>
              <a:ext cx="136781" cy="191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g211f1546b35_0_6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72869" y="1301882"/>
              <a:ext cx="139169" cy="1919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g211f1546b35_0_6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337388" y="1299323"/>
              <a:ext cx="146049" cy="1944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g211f1546b35_0_6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512461" y="1301882"/>
              <a:ext cx="139169" cy="1919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g211f1546b35_0_63"/>
          <p:cNvGrpSpPr/>
          <p:nvPr/>
        </p:nvGrpSpPr>
        <p:grpSpPr>
          <a:xfrm>
            <a:off x="1990813" y="3489491"/>
            <a:ext cx="537790" cy="348082"/>
            <a:chOff x="981875" y="1708193"/>
            <a:chExt cx="316813" cy="191918"/>
          </a:xfrm>
        </p:grpSpPr>
        <p:pic>
          <p:nvPicPr>
            <p:cNvPr id="169" name="Google Shape;169;g211f1546b35_0_6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81875" y="1708193"/>
              <a:ext cx="139167" cy="1919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g211f1546b35_0_6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46117" y="1708193"/>
              <a:ext cx="152571" cy="189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1" name="Google Shape;171;g211f1546b35_0_6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72581" y="3484883"/>
            <a:ext cx="248060" cy="3527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g211f1546b35_0_63"/>
          <p:cNvGrpSpPr/>
          <p:nvPr/>
        </p:nvGrpSpPr>
        <p:grpSpPr>
          <a:xfrm>
            <a:off x="3067356" y="3484848"/>
            <a:ext cx="729480" cy="352725"/>
            <a:chOff x="1616068" y="1705633"/>
            <a:chExt cx="429738" cy="194478"/>
          </a:xfrm>
        </p:grpSpPr>
        <p:pic>
          <p:nvPicPr>
            <p:cNvPr id="173" name="Google Shape;173;g211f1546b35_0_6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616068" y="1705633"/>
              <a:ext cx="144677" cy="1944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g211f1546b35_0_6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86733" y="1708193"/>
              <a:ext cx="152571" cy="189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g211f1546b35_0_6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961340" y="1708193"/>
              <a:ext cx="84466" cy="189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6" name="Google Shape;176;g211f1546b35_0_6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6722" y="3484883"/>
            <a:ext cx="1922623" cy="35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11f1546b35_0_6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258245" y="2741981"/>
            <a:ext cx="416434" cy="366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211f1546b35_0_6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260818" y="3429486"/>
            <a:ext cx="434332" cy="464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" y="0"/>
            <a:ext cx="1218963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2024-01-04T12:39:53Z</dcterms:created>
  <dc:creator>Usuario</dc:creator>
</cp:coreProperties>
</file>