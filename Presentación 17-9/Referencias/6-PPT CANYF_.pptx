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5854700" cy="3295650"/>
  <p:notesSz cx="5854700" cy="3295650"/>
  <p:embeddedFontLst>
    <p:embeddedFont>
      <p:font typeface="Inter Black" pitchFamily="2" charset="0"/>
      <p:bold r:id="rId13"/>
    </p:embeddedFont>
    <p:embeddedFont>
      <p:font typeface="Inter Thin" pitchFamily="2" charset="0"/>
      <p:regular r:id="rId14"/>
    </p:embeddedFont>
    <p:embeddedFont>
      <p:font typeface="Inter" pitchFamily="2" charset="0"/>
      <p:regular r:id="rId15"/>
      <p:bold r:id="rId16"/>
    </p:embeddedFont>
    <p:embeddedFont>
      <p:font typeface="Calibri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  <p15:guide id="3" orient="horz" pos="552">
          <p15:clr>
            <a:srgbClr val="747775"/>
          </p15:clr>
        </p15:guide>
        <p15:guide id="4" pos="321">
          <p15:clr>
            <a:srgbClr val="747775"/>
          </p15:clr>
        </p15:guide>
        <p15:guide id="5" orient="horz" pos="1922">
          <p15:clr>
            <a:srgbClr val="747775"/>
          </p15:clr>
        </p15:guide>
        <p15:guide id="6" orient="horz" pos="680">
          <p15:clr>
            <a:srgbClr val="747775"/>
          </p15:clr>
        </p15:guide>
        <p15:guide id="7" orient="horz" pos="864">
          <p15:clr>
            <a:srgbClr val="747775"/>
          </p15:clr>
        </p15:guide>
        <p15:guide id="8" pos="397">
          <p15:clr>
            <a:srgbClr val="747775"/>
          </p15:clr>
        </p15:guide>
        <p15:guide id="9" orient="horz" pos="1490">
          <p15:clr>
            <a:srgbClr val="747775"/>
          </p15:clr>
        </p15:guide>
        <p15:guide id="10" orient="horz" pos="1038">
          <p15:clr>
            <a:srgbClr val="747775"/>
          </p15:clr>
        </p15:guide>
        <p15:guide id="11" orient="horz" pos="303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ApBU+omEu4ue5KPe7jp//tmgM1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talina vitelli" initials="" lastIdx="1" clrIdx="0"/>
  <p:cmAuthor id="1" name="Gabriela Estrella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172" d="100"/>
          <a:sy n="172" d="100"/>
        </p:scale>
        <p:origin x="-1914" y="-690"/>
      </p:cViewPr>
      <p:guideLst>
        <p:guide orient="horz" pos="2880"/>
        <p:guide orient="horz" pos="552"/>
        <p:guide orient="horz" pos="1922"/>
        <p:guide orient="horz" pos="680"/>
        <p:guide orient="horz" pos="864"/>
        <p:guide orient="horz" pos="1490"/>
        <p:guide orient="horz" pos="1038"/>
        <p:guide orient="horz" pos="303"/>
        <p:guide pos="2160"/>
        <p:guide pos="321"/>
        <p:guide pos="39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customschemas.google.com/relationships/presentationmetadata" Target="meta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536825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316288" y="0"/>
            <a:ext cx="2536825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830388" y="247650"/>
            <a:ext cx="2193925" cy="1235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585788" y="1565275"/>
            <a:ext cx="4683125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3130550"/>
            <a:ext cx="2536825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316288" y="3130550"/>
            <a:ext cx="2536825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‹Nº›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:notes"/>
          <p:cNvSpPr txBox="1">
            <a:spLocks noGrp="1"/>
          </p:cNvSpPr>
          <p:nvPr>
            <p:ph type="body" idx="1"/>
          </p:nvPr>
        </p:nvSpPr>
        <p:spPr>
          <a:xfrm>
            <a:off x="585788" y="1565275"/>
            <a:ext cx="4683125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30388" y="247650"/>
            <a:ext cx="2193925" cy="1235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:notes"/>
          <p:cNvSpPr txBox="1">
            <a:spLocks noGrp="1"/>
          </p:cNvSpPr>
          <p:nvPr>
            <p:ph type="body" idx="1"/>
          </p:nvPr>
        </p:nvSpPr>
        <p:spPr>
          <a:xfrm>
            <a:off x="585788" y="1565275"/>
            <a:ext cx="4683125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30388" y="247650"/>
            <a:ext cx="2193925" cy="1235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:notes"/>
          <p:cNvSpPr txBox="1">
            <a:spLocks noGrp="1"/>
          </p:cNvSpPr>
          <p:nvPr>
            <p:ph type="body" idx="1"/>
          </p:nvPr>
        </p:nvSpPr>
        <p:spPr>
          <a:xfrm>
            <a:off x="585788" y="1565275"/>
            <a:ext cx="4683125" cy="14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30388" y="247650"/>
            <a:ext cx="2193925" cy="1235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1208d61001_0_17:notes"/>
          <p:cNvSpPr txBox="1">
            <a:spLocks noGrp="1"/>
          </p:cNvSpPr>
          <p:nvPr>
            <p:ph type="body" idx="1"/>
          </p:nvPr>
        </p:nvSpPr>
        <p:spPr>
          <a:xfrm>
            <a:off x="585788" y="1565275"/>
            <a:ext cx="4683000" cy="1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g21208d61001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30388" y="247650"/>
            <a:ext cx="2193900" cy="1235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1208d61001_0_27:notes"/>
          <p:cNvSpPr txBox="1">
            <a:spLocks noGrp="1"/>
          </p:cNvSpPr>
          <p:nvPr>
            <p:ph type="body" idx="1"/>
          </p:nvPr>
        </p:nvSpPr>
        <p:spPr>
          <a:xfrm>
            <a:off x="585788" y="1565275"/>
            <a:ext cx="4683000" cy="1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g21208d6100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30388" y="247650"/>
            <a:ext cx="2193925" cy="1235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1208d61001_0_38:notes"/>
          <p:cNvSpPr txBox="1">
            <a:spLocks noGrp="1"/>
          </p:cNvSpPr>
          <p:nvPr>
            <p:ph type="body" idx="1"/>
          </p:nvPr>
        </p:nvSpPr>
        <p:spPr>
          <a:xfrm>
            <a:off x="585788" y="1565275"/>
            <a:ext cx="4683000" cy="1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g21208d61001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30388" y="247650"/>
            <a:ext cx="2193900" cy="1235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1208d61001_0_50:notes"/>
          <p:cNvSpPr txBox="1">
            <a:spLocks noGrp="1"/>
          </p:cNvSpPr>
          <p:nvPr>
            <p:ph type="body" idx="1"/>
          </p:nvPr>
        </p:nvSpPr>
        <p:spPr>
          <a:xfrm>
            <a:off x="585788" y="1565275"/>
            <a:ext cx="4683000" cy="1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21208d6100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30388" y="247650"/>
            <a:ext cx="2193900" cy="1235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1214819f99_1_23:notes"/>
          <p:cNvSpPr txBox="1">
            <a:spLocks noGrp="1"/>
          </p:cNvSpPr>
          <p:nvPr>
            <p:ph type="body" idx="1"/>
          </p:nvPr>
        </p:nvSpPr>
        <p:spPr>
          <a:xfrm>
            <a:off x="585788" y="1565275"/>
            <a:ext cx="4683000" cy="1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1214819f99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30388" y="247650"/>
            <a:ext cx="2193900" cy="1235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1208d61001_0_65:notes"/>
          <p:cNvSpPr txBox="1">
            <a:spLocks noGrp="1"/>
          </p:cNvSpPr>
          <p:nvPr>
            <p:ph type="body" idx="1"/>
          </p:nvPr>
        </p:nvSpPr>
        <p:spPr>
          <a:xfrm>
            <a:off x="585788" y="1565275"/>
            <a:ext cx="4683000" cy="1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g21208d61001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30388" y="247650"/>
            <a:ext cx="2193925" cy="1235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:notes"/>
          <p:cNvSpPr txBox="1">
            <a:spLocks noGrp="1"/>
          </p:cNvSpPr>
          <p:nvPr>
            <p:ph type="body" idx="1"/>
          </p:nvPr>
        </p:nvSpPr>
        <p:spPr>
          <a:xfrm>
            <a:off x="585470" y="1565434"/>
            <a:ext cx="4683760" cy="148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275" tIns="52275" rIns="52275" bIns="52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75976" y="247174"/>
            <a:ext cx="3903325" cy="123586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ftr" idx="11"/>
          </p:nvPr>
        </p:nvSpPr>
        <p:spPr>
          <a:xfrm>
            <a:off x="1990598" y="3064954"/>
            <a:ext cx="1873504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dt" idx="10"/>
          </p:nvPr>
        </p:nvSpPr>
        <p:spPr>
          <a:xfrm>
            <a:off x="292735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sldNum" idx="12"/>
          </p:nvPr>
        </p:nvSpPr>
        <p:spPr>
          <a:xfrm>
            <a:off x="4215384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ctrTitle"/>
          </p:nvPr>
        </p:nvSpPr>
        <p:spPr>
          <a:xfrm>
            <a:off x="731838" y="539358"/>
            <a:ext cx="4391025" cy="1147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900" tIns="21950" rIns="43900" bIns="219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2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subTitle" idx="1"/>
          </p:nvPr>
        </p:nvSpPr>
        <p:spPr>
          <a:xfrm>
            <a:off x="731838" y="1730979"/>
            <a:ext cx="4391025" cy="79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900" tIns="21950" rIns="43900" bIns="2195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200"/>
            </a:lvl1pPr>
            <a:lvl2pPr lvl="1" algn="ctr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000"/>
            </a:lvl2pPr>
            <a:lvl3pPr lvl="2" algn="ctr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900"/>
            </a:lvl3pPr>
            <a:lvl4pPr lvl="3" algn="ctr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800"/>
            </a:lvl4pPr>
            <a:lvl5pPr lvl="4" algn="ctr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800"/>
            </a:lvl5pPr>
            <a:lvl6pPr lvl="5" algn="ctr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800"/>
            </a:lvl6pPr>
            <a:lvl7pPr lvl="6" algn="ctr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800"/>
            </a:lvl7pPr>
            <a:lvl8pPr lvl="7" algn="ctr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800"/>
            </a:lvl8pPr>
            <a:lvl9pPr lvl="8" algn="ctr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800"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402510" y="3054579"/>
            <a:ext cx="1317308" cy="17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900" tIns="21950" rIns="43900" bIns="219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ftr" idx="11"/>
          </p:nvPr>
        </p:nvSpPr>
        <p:spPr>
          <a:xfrm>
            <a:off x="1939370" y="3054579"/>
            <a:ext cx="1975961" cy="17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900" tIns="21950" rIns="43900" bIns="219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4134882" y="3054579"/>
            <a:ext cx="1317308" cy="17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900" tIns="21950" rIns="43900" bIns="219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73256" y="1170432"/>
            <a:ext cx="1442840" cy="405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390" y="842770"/>
            <a:ext cx="892145" cy="151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72515" y="853600"/>
            <a:ext cx="91724" cy="140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90753" y="886903"/>
            <a:ext cx="91471" cy="10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62297" y="853600"/>
            <a:ext cx="84707" cy="138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39666" y="886903"/>
            <a:ext cx="91727" cy="14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74055" y="886903"/>
            <a:ext cx="136400" cy="10525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0"/>
          <p:cNvSpPr/>
          <p:nvPr/>
        </p:nvSpPr>
        <p:spPr>
          <a:xfrm>
            <a:off x="2155744" y="853600"/>
            <a:ext cx="16510" cy="139065"/>
          </a:xfrm>
          <a:custGeom>
            <a:avLst/>
            <a:gdLst/>
            <a:ahLst/>
            <a:cxnLst/>
            <a:rect l="l" t="t" r="r" b="b"/>
            <a:pathLst>
              <a:path w="16510" h="139065" extrusionOk="0">
                <a:moveTo>
                  <a:pt x="15968" y="0"/>
                </a:moveTo>
                <a:lnTo>
                  <a:pt x="0" y="0"/>
                </a:lnTo>
                <a:lnTo>
                  <a:pt x="0" y="138556"/>
                </a:lnTo>
                <a:lnTo>
                  <a:pt x="15968" y="138556"/>
                </a:lnTo>
                <a:lnTo>
                  <a:pt x="15968" y="0"/>
                </a:lnTo>
                <a:close/>
              </a:path>
            </a:pathLst>
          </a:custGeom>
          <a:solidFill>
            <a:srgbClr val="49496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96068" y="886903"/>
            <a:ext cx="91471" cy="10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07002" y="886903"/>
            <a:ext cx="94169" cy="10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471022" y="888239"/>
            <a:ext cx="93059" cy="142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640949" y="853600"/>
            <a:ext cx="108805" cy="138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70873" y="886903"/>
            <a:ext cx="91471" cy="10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882059" y="886903"/>
            <a:ext cx="80106" cy="10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981375" y="886903"/>
            <a:ext cx="83055" cy="107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2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093674" y="886618"/>
            <a:ext cx="227869" cy="10769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0"/>
          <p:cNvSpPr/>
          <p:nvPr/>
        </p:nvSpPr>
        <p:spPr>
          <a:xfrm>
            <a:off x="3345891" y="853605"/>
            <a:ext cx="61594" cy="139065"/>
          </a:xfrm>
          <a:custGeom>
            <a:avLst/>
            <a:gdLst/>
            <a:ahLst/>
            <a:cxnLst/>
            <a:rect l="l" t="t" r="r" b="b"/>
            <a:pathLst>
              <a:path w="61595" h="139065" extrusionOk="0">
                <a:moveTo>
                  <a:pt x="15976" y="0"/>
                </a:moveTo>
                <a:lnTo>
                  <a:pt x="0" y="0"/>
                </a:lnTo>
                <a:lnTo>
                  <a:pt x="0" y="138557"/>
                </a:lnTo>
                <a:lnTo>
                  <a:pt x="15976" y="138557"/>
                </a:lnTo>
                <a:lnTo>
                  <a:pt x="15976" y="0"/>
                </a:lnTo>
                <a:close/>
              </a:path>
              <a:path w="61595" h="139065" extrusionOk="0">
                <a:moveTo>
                  <a:pt x="61150" y="0"/>
                </a:moveTo>
                <a:lnTo>
                  <a:pt x="45186" y="0"/>
                </a:lnTo>
                <a:lnTo>
                  <a:pt x="45186" y="138557"/>
                </a:lnTo>
                <a:lnTo>
                  <a:pt x="61150" y="138557"/>
                </a:lnTo>
                <a:lnTo>
                  <a:pt x="61150" y="0"/>
                </a:lnTo>
                <a:close/>
              </a:path>
            </a:pathLst>
          </a:custGeom>
          <a:solidFill>
            <a:srgbClr val="49496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20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431401" y="886903"/>
            <a:ext cx="94167" cy="10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20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605677" y="853600"/>
            <a:ext cx="1196564" cy="1775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0"/>
          <p:cNvSpPr txBox="1">
            <a:spLocks noGrp="1"/>
          </p:cNvSpPr>
          <p:nvPr>
            <p:ph type="title"/>
          </p:nvPr>
        </p:nvSpPr>
        <p:spPr>
          <a:xfrm>
            <a:off x="467852" y="840886"/>
            <a:ext cx="3710297" cy="94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4B4B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ftr" idx="11"/>
          </p:nvPr>
        </p:nvSpPr>
        <p:spPr>
          <a:xfrm>
            <a:off x="1990598" y="3064954"/>
            <a:ext cx="1873504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292735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4215384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467852" y="840886"/>
            <a:ext cx="3710297" cy="94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4B4B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1"/>
          </p:nvPr>
        </p:nvSpPr>
        <p:spPr>
          <a:xfrm>
            <a:off x="489435" y="840886"/>
            <a:ext cx="3688715" cy="94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4B4B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1990598" y="3064954"/>
            <a:ext cx="1873504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dt" idx="10"/>
          </p:nvPr>
        </p:nvSpPr>
        <p:spPr>
          <a:xfrm>
            <a:off x="292735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4215384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ctrTitle"/>
          </p:nvPr>
        </p:nvSpPr>
        <p:spPr>
          <a:xfrm>
            <a:off x="439102" y="1021651"/>
            <a:ext cx="4976495" cy="692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4B4B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ubTitle" idx="1"/>
          </p:nvPr>
        </p:nvSpPr>
        <p:spPr>
          <a:xfrm>
            <a:off x="878205" y="1845564"/>
            <a:ext cx="409829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4B4B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ftr" idx="11"/>
          </p:nvPr>
        </p:nvSpPr>
        <p:spPr>
          <a:xfrm>
            <a:off x="1990598" y="3064954"/>
            <a:ext cx="1873504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292735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4215384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467852" y="840886"/>
            <a:ext cx="3710297" cy="94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4B4B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292735" y="757999"/>
            <a:ext cx="2546794" cy="217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3015170" y="757999"/>
            <a:ext cx="2546794" cy="217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ftr" idx="11"/>
          </p:nvPr>
        </p:nvSpPr>
        <p:spPr>
          <a:xfrm>
            <a:off x="1990598" y="3064954"/>
            <a:ext cx="1873504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dt" idx="10"/>
          </p:nvPr>
        </p:nvSpPr>
        <p:spPr>
          <a:xfrm>
            <a:off x="292735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4215384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467852" y="840886"/>
            <a:ext cx="3710297" cy="94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4B4B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489435" y="840886"/>
            <a:ext cx="3688715" cy="94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4B4B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ftr" idx="11"/>
          </p:nvPr>
        </p:nvSpPr>
        <p:spPr>
          <a:xfrm>
            <a:off x="1990598" y="3064954"/>
            <a:ext cx="1873504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dt" idx="10"/>
          </p:nvPr>
        </p:nvSpPr>
        <p:spPr>
          <a:xfrm>
            <a:off x="292735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4215384" y="3064954"/>
            <a:ext cx="1346581" cy="164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rgentina.gob.ar/sites/default/files/mirti_santafe.pdf" TargetMode="External"/><Relationship Id="rId5" Type="http://schemas.openxmlformats.org/officeDocument/2006/relationships/image" Target="../media/image21.jpe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1"/>
          <p:cNvGrpSpPr/>
          <p:nvPr/>
        </p:nvGrpSpPr>
        <p:grpSpPr>
          <a:xfrm>
            <a:off x="796363" y="1219200"/>
            <a:ext cx="4261975" cy="814450"/>
            <a:chOff x="516225" y="914400"/>
            <a:chExt cx="4261975" cy="814450"/>
          </a:xfrm>
        </p:grpSpPr>
        <p:pic>
          <p:nvPicPr>
            <p:cNvPr id="73" name="Google Shape;73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6225" y="966850"/>
              <a:ext cx="1976490" cy="762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" name="Google Shape;74;p11"/>
            <p:cNvGrpSpPr/>
            <p:nvPr/>
          </p:nvGrpSpPr>
          <p:grpSpPr>
            <a:xfrm>
              <a:off x="2519750" y="994650"/>
              <a:ext cx="1197525" cy="538800"/>
              <a:chOff x="2519750" y="994650"/>
              <a:chExt cx="1197525" cy="538800"/>
            </a:xfrm>
          </p:grpSpPr>
          <p:sp>
            <p:nvSpPr>
              <p:cNvPr id="75" name="Google Shape;75;p11"/>
              <p:cNvSpPr txBox="1"/>
              <p:nvPr/>
            </p:nvSpPr>
            <p:spPr>
              <a:xfrm>
                <a:off x="2519750" y="1080000"/>
                <a:ext cx="343200" cy="36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3950" rIns="0" bIns="0" anchor="t" anchorCtr="0">
                <a:spAutoFit/>
              </a:bodyPr>
              <a:lstStyle/>
              <a:p>
                <a:pPr marL="127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750"/>
                  <a:buFont typeface="Arial"/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C</a:t>
                </a:r>
                <a:endParaRPr sz="2300" i="0" u="none" strike="noStrike" cap="none">
                  <a:solidFill>
                    <a:srgbClr val="494963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  <p:sp>
            <p:nvSpPr>
              <p:cNvPr id="76" name="Google Shape;76;p11"/>
              <p:cNvSpPr txBox="1"/>
              <p:nvPr/>
            </p:nvSpPr>
            <p:spPr>
              <a:xfrm>
                <a:off x="2614750" y="994650"/>
                <a:ext cx="5208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A</a:t>
                </a:r>
                <a:endParaRPr sz="2300"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  <p:sp>
            <p:nvSpPr>
              <p:cNvPr id="77" name="Google Shape;77;p11"/>
              <p:cNvSpPr txBox="1"/>
              <p:nvPr/>
            </p:nvSpPr>
            <p:spPr>
              <a:xfrm>
                <a:off x="2839125" y="994650"/>
                <a:ext cx="4776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N</a:t>
                </a:r>
                <a:endParaRPr sz="2300"/>
              </a:p>
            </p:txBody>
          </p:sp>
          <p:sp>
            <p:nvSpPr>
              <p:cNvPr id="78" name="Google Shape;78;p11"/>
              <p:cNvSpPr txBox="1"/>
              <p:nvPr/>
            </p:nvSpPr>
            <p:spPr>
              <a:xfrm>
                <a:off x="3026025" y="994650"/>
                <a:ext cx="3744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y</a:t>
                </a:r>
                <a:endParaRPr sz="2300"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  <p:sp>
            <p:nvSpPr>
              <p:cNvPr id="79" name="Google Shape;79;p11"/>
              <p:cNvSpPr txBox="1"/>
              <p:nvPr/>
            </p:nvSpPr>
            <p:spPr>
              <a:xfrm>
                <a:off x="3196475" y="994650"/>
                <a:ext cx="5208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F</a:t>
                </a:r>
                <a:endParaRPr sz="2300">
                  <a:solidFill>
                    <a:schemeClr val="dk1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</p:grpSp>
        <p:sp>
          <p:nvSpPr>
            <p:cNvPr id="80" name="Google Shape;80;p11"/>
            <p:cNvSpPr txBox="1"/>
            <p:nvPr/>
          </p:nvSpPr>
          <p:spPr>
            <a:xfrm>
              <a:off x="2276125" y="914400"/>
              <a:ext cx="216600" cy="45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3800">
                  <a:solidFill>
                    <a:srgbClr val="494963"/>
                  </a:solidFill>
                  <a:latin typeface="Inter Thin"/>
                  <a:ea typeface="Inter Thin"/>
                  <a:cs typeface="Inter Thin"/>
                  <a:sym typeface="Inter Thin"/>
                </a:rPr>
                <a:t>I</a:t>
              </a:r>
              <a:endParaRPr sz="3800">
                <a:solidFill>
                  <a:srgbClr val="494963"/>
                </a:solidFill>
                <a:latin typeface="Inter Thin"/>
                <a:ea typeface="Inter Thin"/>
                <a:cs typeface="Inter Thin"/>
                <a:sym typeface="Inter Thin"/>
              </a:endParaRPr>
            </a:p>
          </p:txBody>
        </p:sp>
        <p:sp>
          <p:nvSpPr>
            <p:cNvPr id="81" name="Google Shape;81;p11"/>
            <p:cNvSpPr txBox="1"/>
            <p:nvPr/>
          </p:nvSpPr>
          <p:spPr>
            <a:xfrm>
              <a:off x="2467000" y="1339200"/>
              <a:ext cx="2311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700">
                  <a:solidFill>
                    <a:srgbClr val="4B4B65"/>
                  </a:solidFill>
                  <a:latin typeface="Inter"/>
                  <a:ea typeface="Inter"/>
                  <a:cs typeface="Inter"/>
                  <a:sym typeface="Inter"/>
                </a:rPr>
                <a:t>Centro de atención a la niñez y las familias</a:t>
              </a:r>
              <a:endParaRPr sz="700">
                <a:solidFill>
                  <a:srgbClr val="4B4B6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552" y="1128175"/>
            <a:ext cx="2311200" cy="39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649" y="2936875"/>
            <a:ext cx="1630925" cy="1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2"/>
          <p:cNvSpPr txBox="1"/>
          <p:nvPr/>
        </p:nvSpPr>
        <p:spPr>
          <a:xfrm>
            <a:off x="511350" y="578900"/>
            <a:ext cx="4437600" cy="20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Plan de erradicación del </a:t>
            </a:r>
            <a:r>
              <a:rPr lang="es-ES" sz="2500" b="1" dirty="0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trabajo infantil</a:t>
            </a:r>
            <a:r>
              <a:rPr lang="es-ES" sz="25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2024</a:t>
            </a:r>
            <a:endParaRPr sz="2500" b="1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Inter"/>
              <a:buAutoNum type="arabicPeriod"/>
            </a:pPr>
            <a:r>
              <a:rPr lang="es-ES" sz="1100" dirty="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Generación de información y conocimiento</a:t>
            </a:r>
            <a:endParaRPr sz="11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Inter"/>
              <a:buAutoNum type="arabicPeriod"/>
            </a:pPr>
            <a:r>
              <a:rPr lang="es-ES" sz="1100" dirty="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Sensibilización</a:t>
            </a:r>
            <a:endParaRPr sz="1100" b="1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Inter"/>
              <a:buAutoNum type="arabicPeriod"/>
            </a:pPr>
            <a:r>
              <a:rPr lang="es-ES" sz="1100" dirty="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Capacitación</a:t>
            </a:r>
            <a:endParaRPr sz="11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Inter"/>
              <a:buAutoNum type="arabicPeriod"/>
            </a:pPr>
            <a:r>
              <a:rPr lang="es-ES" sz="1100" dirty="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Prevención, detección y reparación</a:t>
            </a:r>
            <a:endParaRPr sz="12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2"/>
          <p:cNvSpPr txBox="1"/>
          <p:nvPr/>
        </p:nvSpPr>
        <p:spPr>
          <a:xfrm>
            <a:off x="523650" y="40595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4 puntos de la nueva estrategia de </a:t>
            </a:r>
            <a:endParaRPr sz="8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/>
        </p:nvSpPr>
        <p:spPr>
          <a:xfrm>
            <a:off x="523650" y="1310825"/>
            <a:ext cx="2644500" cy="14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-44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A4A49"/>
              </a:buClr>
              <a:buSzPts val="700"/>
              <a:buFont typeface="Inter"/>
              <a:buChar char="●"/>
            </a:pPr>
            <a:r>
              <a:rPr lang="es-ES" sz="7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2004</a:t>
            </a:r>
            <a:r>
              <a:rPr lang="es-ES" sz="700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Creación de la </a:t>
            </a:r>
            <a:r>
              <a:rPr lang="es-ES" sz="7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COPRETI</a:t>
            </a:r>
            <a:r>
              <a:rPr lang="es-ES" sz="700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(Decreto 231/04 tripartita)</a:t>
            </a:r>
            <a:endParaRPr sz="7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-44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9"/>
              </a:buClr>
              <a:buSzPts val="700"/>
              <a:buFont typeface="Inter"/>
              <a:buChar char="●"/>
            </a:pPr>
            <a:r>
              <a:rPr lang="es-ES" sz="7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2008</a:t>
            </a:r>
            <a:r>
              <a:rPr lang="es-ES" sz="700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Ampliación de la COPRETI (Decreto 510/08 </a:t>
            </a:r>
            <a:r>
              <a:rPr lang="es-ES" sz="700" dirty="0" err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cuatripartita</a:t>
            </a:r>
            <a:r>
              <a:rPr lang="es-ES" sz="700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+ reglamento)</a:t>
            </a:r>
            <a:endParaRPr sz="7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-44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9"/>
              </a:buClr>
              <a:buSzPts val="700"/>
              <a:buFont typeface="Inter"/>
              <a:buChar char="●"/>
            </a:pPr>
            <a:r>
              <a:rPr lang="es-ES" sz="700" b="1" dirty="0" err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Memorandum</a:t>
            </a:r>
            <a:r>
              <a:rPr lang="es-ES" sz="7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de Entendimiento con la OIT</a:t>
            </a:r>
            <a:r>
              <a:rPr lang="es-ES" sz="700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, el Gobierno de la provincia de Santa Fe asumió el compromiso con la promoción del trabajo decente</a:t>
            </a:r>
            <a:endParaRPr sz="7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-44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9"/>
              </a:buClr>
              <a:buSzPts val="700"/>
              <a:buFont typeface="Inter"/>
              <a:buChar char="●"/>
            </a:pPr>
            <a:r>
              <a:rPr lang="es-ES" sz="7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Creación de la Dirección Provincial de Trabajo Decente</a:t>
            </a:r>
            <a:endParaRPr sz="700" b="1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-44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9"/>
              </a:buClr>
              <a:buSzPts val="700"/>
              <a:buFont typeface="Inter"/>
              <a:buChar char="●"/>
            </a:pPr>
            <a:r>
              <a:rPr lang="es-ES" sz="7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2009 Primera Agenda de Trabajo </a:t>
            </a:r>
            <a:r>
              <a:rPr lang="es-ES" sz="700" b="1" dirty="0" smtClean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Decente</a:t>
            </a:r>
            <a:r>
              <a:rPr lang="es-ES" sz="700" dirty="0" smtClean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"Prevenir </a:t>
            </a:r>
            <a:r>
              <a:rPr lang="es-ES" sz="700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y erradicar el trabajo infantil, en especial sus peores formas, y proteger a los y las adolescentes en ocasión del trabajo"</a:t>
            </a:r>
            <a:endParaRPr sz="7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-44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9"/>
              </a:buClr>
              <a:buSzPts val="700"/>
              <a:buFont typeface="Inter"/>
              <a:buChar char="●"/>
            </a:pPr>
            <a:r>
              <a:rPr lang="es-ES" sz="7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2010 Creación de Centros de Cuidado Infantil (CCI)</a:t>
            </a:r>
            <a:endParaRPr sz="9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649" y="2936875"/>
            <a:ext cx="1630925" cy="19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9600" y="483225"/>
            <a:ext cx="3530225" cy="397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523650" y="375125"/>
            <a:ext cx="5003700" cy="10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 b="1" dirty="0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Datos y antecedentes</a:t>
            </a:r>
            <a:r>
              <a:rPr lang="es-ES" sz="25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del trabajo decente</a:t>
            </a:r>
            <a:endParaRPr sz="2500" b="1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3277700" y="1283116"/>
            <a:ext cx="2425800" cy="194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-53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A4A49"/>
              </a:buClr>
              <a:buSzPts val="700"/>
              <a:buFont typeface="Inter"/>
              <a:buChar char="●"/>
            </a:pPr>
            <a:r>
              <a:rPr lang="es-ES" sz="7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2013 2do </a:t>
            </a:r>
            <a:r>
              <a:rPr lang="es-ES" sz="700" b="1" dirty="0" err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Memorandum</a:t>
            </a:r>
            <a:r>
              <a:rPr lang="es-ES" sz="7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s-ES" sz="700" b="1" dirty="0" err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Endendimiento</a:t>
            </a:r>
            <a:r>
              <a:rPr lang="es-ES" sz="7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con OIT</a:t>
            </a:r>
            <a:endParaRPr sz="700" b="1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-53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9"/>
              </a:buClr>
              <a:buSzPts val="700"/>
              <a:buFont typeface="Inter"/>
              <a:buChar char="●"/>
            </a:pPr>
            <a:r>
              <a:rPr lang="es-ES" sz="700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Resolución 216 regula el trabajo adolescente protegido, siendo Santa Fe la primera provincia en el país en establecer el listado de tareas peligrosas.</a:t>
            </a:r>
            <a:endParaRPr sz="7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-53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9"/>
              </a:buClr>
              <a:buSzPts val="700"/>
              <a:buFont typeface="Inter"/>
              <a:buChar char="●"/>
            </a:pPr>
            <a:r>
              <a:rPr lang="es-ES" sz="7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2017 Segunda Agenda de Trabajo Decente</a:t>
            </a:r>
            <a:r>
              <a:rPr lang="es-ES" sz="700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“Prevenir y erradicar el trabajo infantil en todas sus formas, el trabajo forzoso y la trata de personas y garantizar el cumplimiento de las condiciones del trabajo adolescente protegido”</a:t>
            </a:r>
            <a:endParaRPr sz="7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-53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9"/>
              </a:buClr>
              <a:buSzPts val="700"/>
              <a:buFont typeface="Inter"/>
              <a:buChar char="●"/>
            </a:pPr>
            <a:r>
              <a:rPr lang="es-ES" sz="700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-ES" sz="7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Protocolo de </a:t>
            </a:r>
            <a:r>
              <a:rPr lang="es-ES" sz="700" b="1" dirty="0" smtClean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Intervención </a:t>
            </a:r>
            <a:r>
              <a:rPr lang="es-ES" sz="7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Conjunta por Trabajo Infantil </a:t>
            </a:r>
            <a:r>
              <a:rPr lang="es-ES" sz="700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- Resoluciones MTEySS 463/17 y MDS 1013/17 (Ley 26.061)</a:t>
            </a:r>
            <a:endParaRPr sz="1500">
              <a:solidFill>
                <a:srgbClr val="4A4A4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1208d61001_0_17"/>
          <p:cNvSpPr txBox="1"/>
          <p:nvPr/>
        </p:nvSpPr>
        <p:spPr>
          <a:xfrm>
            <a:off x="523650" y="1310825"/>
            <a:ext cx="2644500" cy="14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-53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A4A49"/>
              </a:buClr>
              <a:buSzPts val="700"/>
              <a:buFont typeface="Inter"/>
              <a:buChar char="●"/>
            </a:pPr>
            <a:r>
              <a:rPr lang="es-ES" sz="7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2018 “Offside: ¡marcando la cancha!” </a:t>
            </a:r>
            <a:r>
              <a:rPr lang="es-ES" sz="700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la provincia integra el proyecto para generar conocimiento y robustecer la s políticas públicas.</a:t>
            </a:r>
            <a:endParaRPr sz="7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-53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9"/>
              </a:buClr>
              <a:buSzPts val="700"/>
              <a:buFont typeface="Inter"/>
              <a:buChar char="●"/>
            </a:pPr>
            <a:r>
              <a:rPr lang="es-ES" sz="7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2021 Centros de Atención a la Niñez y la familia </a:t>
            </a:r>
            <a:r>
              <a:rPr lang="es-ES" sz="700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s-ES" sz="700" dirty="0" err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CANyF</a:t>
            </a:r>
            <a:r>
              <a:rPr lang="es-ES" sz="700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- Decreto 1010/21)</a:t>
            </a:r>
            <a:endParaRPr sz="7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-53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9"/>
              </a:buClr>
              <a:buSzPts val="700"/>
              <a:buFont typeface="Inter"/>
              <a:buChar char="●"/>
            </a:pPr>
            <a:r>
              <a:rPr lang="es-ES" sz="7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2022 Offside</a:t>
            </a:r>
            <a:r>
              <a:rPr lang="es-ES" sz="700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- Relevamiento de los espacios de cuidado de la provincia y con MIRTI mapeo de los departamentos con mayores riesgos</a:t>
            </a:r>
            <a:endParaRPr sz="7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-53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9"/>
              </a:buClr>
              <a:buSzPts val="700"/>
              <a:buFont typeface="Inter"/>
              <a:buChar char="●"/>
            </a:pPr>
            <a:r>
              <a:rPr lang="es-ES" sz="700" b="1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2023 Talleres de sensibilización y concientización </a:t>
            </a:r>
            <a:r>
              <a:rPr lang="es-ES" sz="700" dirty="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orientados a adolescentes de escuelas secundarias del Municipio de Vera</a:t>
            </a:r>
            <a:endParaRPr sz="7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Inter"/>
              <a:buChar char="●"/>
            </a:pPr>
            <a:endParaRPr sz="7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4" name="Google Shape;104;g21208d61001_0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649" y="2936875"/>
            <a:ext cx="1630925" cy="19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21208d61001_0_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9600" y="483225"/>
            <a:ext cx="3530225" cy="39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21208d61001_0_17"/>
          <p:cNvSpPr txBox="1"/>
          <p:nvPr/>
        </p:nvSpPr>
        <p:spPr>
          <a:xfrm>
            <a:off x="523650" y="375125"/>
            <a:ext cx="5003700" cy="10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 b="1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Datos y antecedentes</a:t>
            </a:r>
            <a:r>
              <a:rPr lang="es-ES" sz="2500" b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del trabajo decente</a:t>
            </a:r>
            <a:endParaRPr sz="2500" b="1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g21208d61001_0_17"/>
          <p:cNvSpPr txBox="1"/>
          <p:nvPr/>
        </p:nvSpPr>
        <p:spPr>
          <a:xfrm>
            <a:off x="3101550" y="1310825"/>
            <a:ext cx="2425800" cy="12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9999" lvl="0" indent="-53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A4A49"/>
              </a:buClr>
              <a:buSzPts val="700"/>
              <a:buFont typeface="Inter"/>
              <a:buChar char="●"/>
            </a:pPr>
            <a:r>
              <a:rPr lang="es-ES" sz="700" b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2024 Campaña Contra el Trabajo Infantil</a:t>
            </a:r>
            <a:r>
              <a:rPr lang="es-ES" sz="70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en la Provincia de Santa Fe  (firma de — compromisos para la erradicación del trabajo infantil, acciones de visibilización mediante oculos OIT) </a:t>
            </a:r>
            <a:endParaRPr sz="7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89999" lvl="0" indent="-53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9"/>
              </a:buClr>
              <a:buSzPts val="700"/>
              <a:buFont typeface="Inter"/>
              <a:buChar char="●"/>
            </a:pPr>
            <a:r>
              <a:rPr lang="es-ES" sz="700" b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Manualización CANIF</a:t>
            </a:r>
            <a:endParaRPr sz="700" b="1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89999" lvl="0" indent="-53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9"/>
              </a:buClr>
              <a:buSzPts val="700"/>
              <a:buFont typeface="Inter"/>
              <a:buChar char="●"/>
            </a:pPr>
            <a:r>
              <a:rPr lang="es-ES" sz="700" b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Modelo de Intervención (</a:t>
            </a:r>
            <a:r>
              <a:rPr lang="es-ES" sz="70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de áreas gubernamentales y hoja de ruta) </a:t>
            </a:r>
            <a:r>
              <a:rPr lang="es-ES" sz="700" b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Plan de erradicación del Trabajo Infantil </a:t>
            </a:r>
            <a:r>
              <a:rPr lang="es-ES" sz="70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y protección del trabajo adolescente protegido</a:t>
            </a:r>
            <a:endParaRPr sz="700" b="1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21208d61001_0_27"/>
          <p:cNvPicPr preferRelativeResize="0"/>
          <p:nvPr/>
        </p:nvPicPr>
        <p:blipFill rotWithShape="1">
          <a:blip r:embed="rId3">
            <a:alphaModFix/>
          </a:blip>
          <a:srcRect t="33932" r="50512"/>
          <a:stretch/>
        </p:blipFill>
        <p:spPr>
          <a:xfrm>
            <a:off x="783051" y="242664"/>
            <a:ext cx="1577764" cy="2977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21208d61001_0_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228650"/>
            <a:ext cx="5854700" cy="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8;g21208d61001_0_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854700" cy="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14;g21208d61001_0_27"/>
          <p:cNvPicPr preferRelativeResize="0"/>
          <p:nvPr/>
        </p:nvPicPr>
        <p:blipFill rotWithShape="1">
          <a:blip r:embed="rId5">
            <a:alphaModFix/>
          </a:blip>
          <a:srcRect l="52847" t="65700" r="3306" b="9014"/>
          <a:stretch/>
        </p:blipFill>
        <p:spPr>
          <a:xfrm>
            <a:off x="2962137" y="954865"/>
            <a:ext cx="2460299" cy="2005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7;g21208d61001_0_27"/>
          <p:cNvPicPr preferRelativeResize="0"/>
          <p:nvPr/>
        </p:nvPicPr>
        <p:blipFill rotWithShape="1">
          <a:blip r:embed="rId5">
            <a:alphaModFix/>
          </a:blip>
          <a:srcRect l="3052" t="4323" r="3305" b="81714"/>
          <a:stretch/>
        </p:blipFill>
        <p:spPr>
          <a:xfrm>
            <a:off x="2758252" y="301021"/>
            <a:ext cx="2884381" cy="60783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21208d61001_0_27"/>
          <p:cNvSpPr txBox="1"/>
          <p:nvPr/>
        </p:nvSpPr>
        <p:spPr>
          <a:xfrm>
            <a:off x="303961" y="2939550"/>
            <a:ext cx="2670900" cy="28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00" u="sng" dirty="0">
                <a:solidFill>
                  <a:schemeClr val="hlink"/>
                </a:solidFill>
                <a:latin typeface="Inter Thin"/>
                <a:ea typeface="Inter Thin"/>
                <a:cs typeface="Inter Thin"/>
                <a:sym typeface="Inter Thin"/>
                <a:hlinkClick r:id="rId6"/>
              </a:rPr>
              <a:t>Modelo de Identificación del riesgo de trabajo infantil y adolescente.</a:t>
            </a:r>
            <a:endParaRPr sz="600">
              <a:solidFill>
                <a:srgbClr val="4B4B65"/>
              </a:solidFill>
              <a:latin typeface="Inter Thin"/>
              <a:ea typeface="Inter Thin"/>
              <a:cs typeface="Inter Thin"/>
              <a:sym typeface="Inter Th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1208d61001_0_38"/>
          <p:cNvSpPr txBox="1"/>
          <p:nvPr/>
        </p:nvSpPr>
        <p:spPr>
          <a:xfrm>
            <a:off x="509600" y="1138625"/>
            <a:ext cx="4811400" cy="17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85750" algn="just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4A4A49"/>
              </a:buClr>
              <a:buSzPts val="900"/>
              <a:buFont typeface="Inter"/>
              <a:buAutoNum type="arabicPeriod"/>
            </a:pPr>
            <a:r>
              <a:rPr lang="es-ES" sz="900" b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En los CANyF instrumentamos acciones e iniciativas para la prevención y la erradicación del trabajo infantil. </a:t>
            </a:r>
            <a:endParaRPr sz="9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8575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A4A49"/>
              </a:buClr>
              <a:buSzPts val="900"/>
              <a:buFont typeface="Inter"/>
              <a:buAutoNum type="arabicPeriod"/>
            </a:pPr>
            <a:r>
              <a:rPr lang="es-ES" sz="900" b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Garantizar mínimamente a todos los niños que participan de:</a:t>
            </a:r>
            <a:endParaRPr sz="900" b="1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 A. Controles de salud y vacunación </a:t>
            </a:r>
            <a:endParaRPr sz="9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 B. Controles odontológicos.</a:t>
            </a:r>
            <a:endParaRPr sz="9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 C. Acompañamiento nutricional.</a:t>
            </a:r>
            <a:endParaRPr sz="9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 D. Alfabetización tradicional y digital.</a:t>
            </a:r>
            <a:endParaRPr sz="9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 E. Mecanismos de detección temprana de abusos y situaciones de violencia.</a:t>
            </a:r>
            <a:endParaRPr sz="9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4" name="Google Shape;124;g21208d61001_0_38"/>
          <p:cNvGrpSpPr/>
          <p:nvPr/>
        </p:nvGrpSpPr>
        <p:grpSpPr>
          <a:xfrm>
            <a:off x="707213" y="337375"/>
            <a:ext cx="2311200" cy="538800"/>
            <a:chOff x="1018363" y="337375"/>
            <a:chExt cx="2311200" cy="538800"/>
          </a:xfrm>
        </p:grpSpPr>
        <p:grpSp>
          <p:nvGrpSpPr>
            <p:cNvPr id="125" name="Google Shape;125;g21208d61001_0_38"/>
            <p:cNvGrpSpPr/>
            <p:nvPr/>
          </p:nvGrpSpPr>
          <p:grpSpPr>
            <a:xfrm>
              <a:off x="1075863" y="337375"/>
              <a:ext cx="1197525" cy="538800"/>
              <a:chOff x="2519750" y="994650"/>
              <a:chExt cx="1197525" cy="538800"/>
            </a:xfrm>
          </p:grpSpPr>
          <p:sp>
            <p:nvSpPr>
              <p:cNvPr id="126" name="Google Shape;126;g21208d61001_0_38"/>
              <p:cNvSpPr txBox="1"/>
              <p:nvPr/>
            </p:nvSpPr>
            <p:spPr>
              <a:xfrm>
                <a:off x="2519750" y="1080000"/>
                <a:ext cx="343200" cy="36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3950" rIns="0" bIns="0" anchor="t" anchorCtr="0">
                <a:spAutoFit/>
              </a:bodyPr>
              <a:lstStyle/>
              <a:p>
                <a:pPr marL="127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750"/>
                  <a:buFont typeface="Arial"/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C</a:t>
                </a:r>
                <a:endParaRPr sz="2300" i="0" u="none" strike="noStrike" cap="none">
                  <a:solidFill>
                    <a:srgbClr val="494963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  <p:sp>
            <p:nvSpPr>
              <p:cNvPr id="127" name="Google Shape;127;g21208d61001_0_38"/>
              <p:cNvSpPr txBox="1"/>
              <p:nvPr/>
            </p:nvSpPr>
            <p:spPr>
              <a:xfrm>
                <a:off x="2614750" y="994650"/>
                <a:ext cx="5208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A</a:t>
                </a:r>
                <a:endParaRPr sz="2300"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  <p:sp>
            <p:nvSpPr>
              <p:cNvPr id="128" name="Google Shape;128;g21208d61001_0_38"/>
              <p:cNvSpPr txBox="1"/>
              <p:nvPr/>
            </p:nvSpPr>
            <p:spPr>
              <a:xfrm>
                <a:off x="2839125" y="994650"/>
                <a:ext cx="4776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N</a:t>
                </a:r>
                <a:endParaRPr sz="2300"/>
              </a:p>
            </p:txBody>
          </p:sp>
          <p:sp>
            <p:nvSpPr>
              <p:cNvPr id="129" name="Google Shape;129;g21208d61001_0_38"/>
              <p:cNvSpPr txBox="1"/>
              <p:nvPr/>
            </p:nvSpPr>
            <p:spPr>
              <a:xfrm>
                <a:off x="3026025" y="994650"/>
                <a:ext cx="3744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y</a:t>
                </a:r>
                <a:endParaRPr sz="2300"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  <p:sp>
            <p:nvSpPr>
              <p:cNvPr id="130" name="Google Shape;130;g21208d61001_0_38"/>
              <p:cNvSpPr txBox="1"/>
              <p:nvPr/>
            </p:nvSpPr>
            <p:spPr>
              <a:xfrm>
                <a:off x="3196475" y="994650"/>
                <a:ext cx="5208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F</a:t>
                </a:r>
                <a:endParaRPr sz="2300">
                  <a:solidFill>
                    <a:schemeClr val="dk1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</p:grpSp>
        <p:sp>
          <p:nvSpPr>
            <p:cNvPr id="131" name="Google Shape;131;g21208d61001_0_38"/>
            <p:cNvSpPr txBox="1"/>
            <p:nvPr/>
          </p:nvSpPr>
          <p:spPr>
            <a:xfrm>
              <a:off x="1018363" y="652550"/>
              <a:ext cx="2311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700">
                  <a:solidFill>
                    <a:srgbClr val="4B4B65"/>
                  </a:solidFill>
                  <a:latin typeface="Inter"/>
                  <a:ea typeface="Inter"/>
                  <a:cs typeface="Inter"/>
                  <a:sym typeface="Inter"/>
                </a:rPr>
                <a:t>Centro de atención a la niñez y las familias</a:t>
              </a:r>
              <a:endParaRPr sz="700">
                <a:solidFill>
                  <a:srgbClr val="4B4B6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32" name="Google Shape;132;g21208d61001_0_38"/>
            <p:cNvPicPr preferRelativeResize="0"/>
            <p:nvPr/>
          </p:nvPicPr>
          <p:blipFill rotWithShape="1">
            <a:blip r:embed="rId3">
              <a:alphaModFix/>
            </a:blip>
            <a:srcRect l="18712" t="31441"/>
            <a:stretch/>
          </p:blipFill>
          <p:spPr>
            <a:xfrm rot="5400000">
              <a:off x="883138" y="653738"/>
              <a:ext cx="347650" cy="212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1208d61001_0_50"/>
          <p:cNvSpPr txBox="1"/>
          <p:nvPr/>
        </p:nvSpPr>
        <p:spPr>
          <a:xfrm>
            <a:off x="523650" y="902575"/>
            <a:ext cx="4949700" cy="20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b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r>
              <a:rPr lang="es-ES" sz="90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-ES" sz="900" b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Aplicar con los niños</a:t>
            </a:r>
            <a:r>
              <a:rPr lang="es-ES" sz="90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-ES" sz="900" b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talleres de aproximación</a:t>
            </a:r>
            <a:r>
              <a:rPr lang="es-ES" sz="90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a las siguientes temáticas para desarrollar sus habilidades blandas y potenciar sus habilidades futuras en 4 ejes principales. </a:t>
            </a:r>
            <a:endParaRPr sz="9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1025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9"/>
              </a:buClr>
              <a:buSzPts val="900"/>
              <a:buFont typeface="Inter"/>
              <a:buAutoNum type="alphaUcPeriod"/>
            </a:pPr>
            <a:r>
              <a:rPr lang="es-ES" sz="900" b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Tecnología y ciencias</a:t>
            </a:r>
            <a:r>
              <a:rPr lang="es-ES" sz="90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: Incluye la implementación y la promoción de la innovación tecnológica para achicar la brecha digital de los niños/as.</a:t>
            </a:r>
            <a:endParaRPr sz="9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1025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9"/>
              </a:buClr>
              <a:buSzPts val="900"/>
              <a:buFont typeface="Inter"/>
              <a:buAutoNum type="alphaUcPeriod"/>
            </a:pPr>
            <a:r>
              <a:rPr lang="es-ES" sz="900" b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Ambiente y desarrollo sostenible:</a:t>
            </a:r>
            <a:r>
              <a:rPr lang="es-ES" sz="90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 Enfocado en iniciativas de conservación, reciclaje y conciencia ambiental en las áreas donde operan.</a:t>
            </a:r>
            <a:endParaRPr sz="9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1025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9"/>
              </a:buClr>
              <a:buSzPts val="900"/>
              <a:buFont typeface="Inter"/>
              <a:buAutoNum type="alphaUcPeriod"/>
            </a:pPr>
            <a:r>
              <a:rPr lang="es-ES" sz="900" b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Cultura, arte y música: </a:t>
            </a:r>
            <a:r>
              <a:rPr lang="es-ES" sz="90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Aborda la promoción de expresiones culturales y artísticas.</a:t>
            </a:r>
            <a:endParaRPr sz="9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1025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9"/>
              </a:buClr>
              <a:buSzPts val="900"/>
              <a:buFont typeface="Inter"/>
              <a:buAutoNum type="alphaUcPeriod"/>
            </a:pPr>
            <a:r>
              <a:rPr lang="es-ES" sz="900" b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Deporte</a:t>
            </a:r>
            <a:r>
              <a:rPr lang="es-ES" sz="90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: Apoyo a programas y eventos deportivos para fomentar la actividad física y el espíritu de equipo.</a:t>
            </a:r>
            <a:endParaRPr sz="9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8" name="Google Shape;138;g21208d61001_0_50"/>
          <p:cNvGrpSpPr/>
          <p:nvPr/>
        </p:nvGrpSpPr>
        <p:grpSpPr>
          <a:xfrm>
            <a:off x="707213" y="337375"/>
            <a:ext cx="2311200" cy="538800"/>
            <a:chOff x="1018363" y="337375"/>
            <a:chExt cx="2311200" cy="538800"/>
          </a:xfrm>
        </p:grpSpPr>
        <p:grpSp>
          <p:nvGrpSpPr>
            <p:cNvPr id="139" name="Google Shape;139;g21208d61001_0_50"/>
            <p:cNvGrpSpPr/>
            <p:nvPr/>
          </p:nvGrpSpPr>
          <p:grpSpPr>
            <a:xfrm>
              <a:off x="1075863" y="337375"/>
              <a:ext cx="1197525" cy="538800"/>
              <a:chOff x="2519750" y="994650"/>
              <a:chExt cx="1197525" cy="538800"/>
            </a:xfrm>
          </p:grpSpPr>
          <p:sp>
            <p:nvSpPr>
              <p:cNvPr id="140" name="Google Shape;140;g21208d61001_0_50"/>
              <p:cNvSpPr txBox="1"/>
              <p:nvPr/>
            </p:nvSpPr>
            <p:spPr>
              <a:xfrm>
                <a:off x="2519750" y="1080000"/>
                <a:ext cx="343200" cy="36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3950" rIns="0" bIns="0" anchor="t" anchorCtr="0">
                <a:spAutoFit/>
              </a:bodyPr>
              <a:lstStyle/>
              <a:p>
                <a:pPr marL="127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750"/>
                  <a:buFont typeface="Arial"/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C</a:t>
                </a:r>
                <a:endParaRPr sz="2300" i="0" u="none" strike="noStrike" cap="none">
                  <a:solidFill>
                    <a:srgbClr val="494963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  <p:sp>
            <p:nvSpPr>
              <p:cNvPr id="141" name="Google Shape;141;g21208d61001_0_50"/>
              <p:cNvSpPr txBox="1"/>
              <p:nvPr/>
            </p:nvSpPr>
            <p:spPr>
              <a:xfrm>
                <a:off x="2614750" y="994650"/>
                <a:ext cx="5208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A</a:t>
                </a:r>
                <a:endParaRPr sz="2300"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  <p:sp>
            <p:nvSpPr>
              <p:cNvPr id="142" name="Google Shape;142;g21208d61001_0_50"/>
              <p:cNvSpPr txBox="1"/>
              <p:nvPr/>
            </p:nvSpPr>
            <p:spPr>
              <a:xfrm>
                <a:off x="2839125" y="994650"/>
                <a:ext cx="4776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N</a:t>
                </a:r>
                <a:endParaRPr sz="2300"/>
              </a:p>
            </p:txBody>
          </p:sp>
          <p:sp>
            <p:nvSpPr>
              <p:cNvPr id="143" name="Google Shape;143;g21208d61001_0_50"/>
              <p:cNvSpPr txBox="1"/>
              <p:nvPr/>
            </p:nvSpPr>
            <p:spPr>
              <a:xfrm>
                <a:off x="3026025" y="994650"/>
                <a:ext cx="3744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y</a:t>
                </a:r>
                <a:endParaRPr sz="2300"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  <p:sp>
            <p:nvSpPr>
              <p:cNvPr id="144" name="Google Shape;144;g21208d61001_0_50"/>
              <p:cNvSpPr txBox="1"/>
              <p:nvPr/>
            </p:nvSpPr>
            <p:spPr>
              <a:xfrm>
                <a:off x="3196475" y="994650"/>
                <a:ext cx="5208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F</a:t>
                </a:r>
                <a:endParaRPr sz="2300">
                  <a:solidFill>
                    <a:schemeClr val="dk1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</p:grpSp>
        <p:sp>
          <p:nvSpPr>
            <p:cNvPr id="145" name="Google Shape;145;g21208d61001_0_50"/>
            <p:cNvSpPr txBox="1"/>
            <p:nvPr/>
          </p:nvSpPr>
          <p:spPr>
            <a:xfrm>
              <a:off x="1018363" y="652550"/>
              <a:ext cx="2311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700">
                  <a:solidFill>
                    <a:srgbClr val="4B4B65"/>
                  </a:solidFill>
                  <a:latin typeface="Inter"/>
                  <a:ea typeface="Inter"/>
                  <a:cs typeface="Inter"/>
                  <a:sym typeface="Inter"/>
                </a:rPr>
                <a:t>Centro de atención a la niñez y las familias</a:t>
              </a:r>
              <a:endParaRPr sz="700">
                <a:solidFill>
                  <a:srgbClr val="4B4B6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46" name="Google Shape;146;g21208d61001_0_50"/>
            <p:cNvPicPr preferRelativeResize="0"/>
            <p:nvPr/>
          </p:nvPicPr>
          <p:blipFill rotWithShape="1">
            <a:blip r:embed="rId3">
              <a:alphaModFix/>
            </a:blip>
            <a:srcRect l="18712" t="31441"/>
            <a:stretch/>
          </p:blipFill>
          <p:spPr>
            <a:xfrm rot="5400000">
              <a:off x="883138" y="653738"/>
              <a:ext cx="347650" cy="212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1214819f99_1_23"/>
          <p:cNvSpPr txBox="1"/>
          <p:nvPr/>
        </p:nvSpPr>
        <p:spPr>
          <a:xfrm>
            <a:off x="523650" y="902575"/>
            <a:ext cx="4949700" cy="9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4. </a:t>
            </a:r>
            <a:r>
              <a:rPr lang="es-ES" sz="900" b="1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Trabajo con las Familias en su Empleabilidad.</a:t>
            </a:r>
            <a:endParaRPr sz="900" b="1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rgbClr val="4A4A49"/>
                </a:solidFill>
                <a:latin typeface="Inter"/>
                <a:ea typeface="Inter"/>
                <a:cs typeface="Inter"/>
                <a:sym typeface="Inter"/>
              </a:rPr>
              <a:t>Promover la reconversión laboral de los padres, la creación de mecanismos asociativos de trabajo, cooperativas y la inserción laboral formal. Desarrollar talleres y capacitaciones para mejorar las condiciones de empleabilidad de los padres.</a:t>
            </a:r>
            <a:endParaRPr sz="600">
              <a:solidFill>
                <a:srgbClr val="4A4A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2" name="Google Shape;152;g21214819f99_1_23"/>
          <p:cNvGrpSpPr/>
          <p:nvPr/>
        </p:nvGrpSpPr>
        <p:grpSpPr>
          <a:xfrm>
            <a:off x="707213" y="337375"/>
            <a:ext cx="2311200" cy="538800"/>
            <a:chOff x="1018363" y="337375"/>
            <a:chExt cx="2311200" cy="538800"/>
          </a:xfrm>
        </p:grpSpPr>
        <p:grpSp>
          <p:nvGrpSpPr>
            <p:cNvPr id="153" name="Google Shape;153;g21214819f99_1_23"/>
            <p:cNvGrpSpPr/>
            <p:nvPr/>
          </p:nvGrpSpPr>
          <p:grpSpPr>
            <a:xfrm>
              <a:off x="1075863" y="337375"/>
              <a:ext cx="1197525" cy="538800"/>
              <a:chOff x="2519750" y="994650"/>
              <a:chExt cx="1197525" cy="538800"/>
            </a:xfrm>
          </p:grpSpPr>
          <p:sp>
            <p:nvSpPr>
              <p:cNvPr id="154" name="Google Shape;154;g21214819f99_1_23"/>
              <p:cNvSpPr txBox="1"/>
              <p:nvPr/>
            </p:nvSpPr>
            <p:spPr>
              <a:xfrm>
                <a:off x="2519750" y="1080000"/>
                <a:ext cx="343200" cy="36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3950" rIns="0" bIns="0" anchor="t" anchorCtr="0">
                <a:spAutoFit/>
              </a:bodyPr>
              <a:lstStyle/>
              <a:p>
                <a:pPr marL="127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750"/>
                  <a:buFont typeface="Arial"/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C</a:t>
                </a:r>
                <a:endParaRPr sz="2300" i="0" u="none" strike="noStrike" cap="none">
                  <a:solidFill>
                    <a:srgbClr val="494963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  <p:sp>
            <p:nvSpPr>
              <p:cNvPr id="155" name="Google Shape;155;g21214819f99_1_23"/>
              <p:cNvSpPr txBox="1"/>
              <p:nvPr/>
            </p:nvSpPr>
            <p:spPr>
              <a:xfrm>
                <a:off x="2614750" y="994650"/>
                <a:ext cx="5208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A</a:t>
                </a:r>
                <a:endParaRPr sz="2300"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  <p:sp>
            <p:nvSpPr>
              <p:cNvPr id="156" name="Google Shape;156;g21214819f99_1_23"/>
              <p:cNvSpPr txBox="1"/>
              <p:nvPr/>
            </p:nvSpPr>
            <p:spPr>
              <a:xfrm>
                <a:off x="2839125" y="994650"/>
                <a:ext cx="4776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N</a:t>
                </a:r>
                <a:endParaRPr sz="2300"/>
              </a:p>
            </p:txBody>
          </p:sp>
          <p:sp>
            <p:nvSpPr>
              <p:cNvPr id="157" name="Google Shape;157;g21214819f99_1_23"/>
              <p:cNvSpPr txBox="1"/>
              <p:nvPr/>
            </p:nvSpPr>
            <p:spPr>
              <a:xfrm>
                <a:off x="3026025" y="994650"/>
                <a:ext cx="3744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y</a:t>
                </a:r>
                <a:endParaRPr sz="2300"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  <p:sp>
            <p:nvSpPr>
              <p:cNvPr id="158" name="Google Shape;158;g21214819f99_1_23"/>
              <p:cNvSpPr txBox="1"/>
              <p:nvPr/>
            </p:nvSpPr>
            <p:spPr>
              <a:xfrm>
                <a:off x="3196475" y="994650"/>
                <a:ext cx="5208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F</a:t>
                </a:r>
                <a:endParaRPr sz="2300">
                  <a:solidFill>
                    <a:schemeClr val="dk1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</p:grpSp>
        <p:sp>
          <p:nvSpPr>
            <p:cNvPr id="159" name="Google Shape;159;g21214819f99_1_23"/>
            <p:cNvSpPr txBox="1"/>
            <p:nvPr/>
          </p:nvSpPr>
          <p:spPr>
            <a:xfrm>
              <a:off x="1018363" y="652550"/>
              <a:ext cx="2311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700">
                  <a:solidFill>
                    <a:srgbClr val="4B4B65"/>
                  </a:solidFill>
                  <a:latin typeface="Inter"/>
                  <a:ea typeface="Inter"/>
                  <a:cs typeface="Inter"/>
                  <a:sym typeface="Inter"/>
                </a:rPr>
                <a:t>Centro de atención a la niñez y las familias</a:t>
              </a:r>
              <a:endParaRPr sz="700">
                <a:solidFill>
                  <a:srgbClr val="4B4B6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60" name="Google Shape;160;g21214819f99_1_23"/>
            <p:cNvPicPr preferRelativeResize="0"/>
            <p:nvPr/>
          </p:nvPicPr>
          <p:blipFill rotWithShape="1">
            <a:blip r:embed="rId3">
              <a:alphaModFix/>
            </a:blip>
            <a:srcRect l="18712" t="31441"/>
            <a:stretch/>
          </p:blipFill>
          <p:spPr>
            <a:xfrm rot="5400000">
              <a:off x="883138" y="653738"/>
              <a:ext cx="347650" cy="212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21208d61001_0_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649" y="2860675"/>
            <a:ext cx="1630925" cy="1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21208d61001_0_65"/>
          <p:cNvSpPr txBox="1"/>
          <p:nvPr/>
        </p:nvSpPr>
        <p:spPr>
          <a:xfrm>
            <a:off x="3044475" y="382425"/>
            <a:ext cx="1515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En </a:t>
            </a:r>
            <a:r>
              <a:rPr lang="es-ES" sz="1100" b="1" dirty="0" smtClean="0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Proceso</a:t>
            </a:r>
            <a:endParaRPr sz="1100" b="1">
              <a:solidFill>
                <a:srgbClr val="FEFEF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8" name="Google Shape;188;g21208d61001_0_65"/>
          <p:cNvGrpSpPr/>
          <p:nvPr/>
        </p:nvGrpSpPr>
        <p:grpSpPr>
          <a:xfrm>
            <a:off x="537574" y="82752"/>
            <a:ext cx="2125531" cy="524363"/>
            <a:chOff x="1009365" y="337375"/>
            <a:chExt cx="2311200" cy="570166"/>
          </a:xfrm>
        </p:grpSpPr>
        <p:grpSp>
          <p:nvGrpSpPr>
            <p:cNvPr id="189" name="Google Shape;189;g21208d61001_0_65"/>
            <p:cNvGrpSpPr/>
            <p:nvPr/>
          </p:nvGrpSpPr>
          <p:grpSpPr>
            <a:xfrm>
              <a:off x="1075863" y="337375"/>
              <a:ext cx="1197525" cy="538800"/>
              <a:chOff x="2519750" y="994650"/>
              <a:chExt cx="1197525" cy="538800"/>
            </a:xfrm>
          </p:grpSpPr>
          <p:sp>
            <p:nvSpPr>
              <p:cNvPr id="190" name="Google Shape;190;g21208d61001_0_65"/>
              <p:cNvSpPr txBox="1"/>
              <p:nvPr/>
            </p:nvSpPr>
            <p:spPr>
              <a:xfrm>
                <a:off x="2519750" y="1080000"/>
                <a:ext cx="343200" cy="36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3950" rIns="0" bIns="0" anchor="t" anchorCtr="0">
                <a:spAutoFit/>
              </a:bodyPr>
              <a:lstStyle/>
              <a:p>
                <a:pPr marL="127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750"/>
                  <a:buFont typeface="Arial"/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C</a:t>
                </a:r>
                <a:endParaRPr sz="2300" i="0" u="none" strike="noStrike" cap="none">
                  <a:solidFill>
                    <a:srgbClr val="494963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  <p:sp>
            <p:nvSpPr>
              <p:cNvPr id="191" name="Google Shape;191;g21208d61001_0_65"/>
              <p:cNvSpPr txBox="1"/>
              <p:nvPr/>
            </p:nvSpPr>
            <p:spPr>
              <a:xfrm>
                <a:off x="2614750" y="994650"/>
                <a:ext cx="5208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A</a:t>
                </a:r>
                <a:endParaRPr sz="2300"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  <p:sp>
            <p:nvSpPr>
              <p:cNvPr id="192" name="Google Shape;192;g21208d61001_0_65"/>
              <p:cNvSpPr txBox="1"/>
              <p:nvPr/>
            </p:nvSpPr>
            <p:spPr>
              <a:xfrm>
                <a:off x="2839125" y="994650"/>
                <a:ext cx="4776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 dirty="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N</a:t>
                </a:r>
                <a:endParaRPr sz="2300"/>
              </a:p>
            </p:txBody>
          </p:sp>
          <p:sp>
            <p:nvSpPr>
              <p:cNvPr id="193" name="Google Shape;193;g21208d61001_0_65"/>
              <p:cNvSpPr txBox="1"/>
              <p:nvPr/>
            </p:nvSpPr>
            <p:spPr>
              <a:xfrm>
                <a:off x="3026025" y="994650"/>
                <a:ext cx="3744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 dirty="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y</a:t>
                </a:r>
                <a:endParaRPr sz="2300"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  <p:sp>
            <p:nvSpPr>
              <p:cNvPr id="194" name="Google Shape;194;g21208d61001_0_65"/>
              <p:cNvSpPr txBox="1"/>
              <p:nvPr/>
            </p:nvSpPr>
            <p:spPr>
              <a:xfrm>
                <a:off x="3196475" y="994650"/>
                <a:ext cx="520800" cy="5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27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300" dirty="0">
                    <a:solidFill>
                      <a:srgbClr val="494963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F</a:t>
                </a:r>
                <a:endParaRPr sz="2300">
                  <a:solidFill>
                    <a:schemeClr val="dk1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</p:grpSp>
        <p:sp>
          <p:nvSpPr>
            <p:cNvPr id="195" name="Google Shape;195;g21208d61001_0_65"/>
            <p:cNvSpPr txBox="1"/>
            <p:nvPr/>
          </p:nvSpPr>
          <p:spPr>
            <a:xfrm>
              <a:off x="1009365" y="688541"/>
              <a:ext cx="2311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700" dirty="0">
                  <a:solidFill>
                    <a:srgbClr val="4B4B65"/>
                  </a:solidFill>
                  <a:latin typeface="Inter"/>
                  <a:ea typeface="Inter"/>
                  <a:cs typeface="Inter"/>
                  <a:sym typeface="Inter"/>
                </a:rPr>
                <a:t>Centro de atención a la niñez y las familias</a:t>
              </a:r>
              <a:endParaRPr sz="700">
                <a:solidFill>
                  <a:srgbClr val="4B4B6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96" name="Google Shape;196;g21208d61001_0_65"/>
            <p:cNvPicPr preferRelativeResize="0"/>
            <p:nvPr/>
          </p:nvPicPr>
          <p:blipFill rotWithShape="1">
            <a:blip r:embed="rId4">
              <a:alphaModFix/>
            </a:blip>
            <a:srcRect l="18712" t="31441"/>
            <a:stretch/>
          </p:blipFill>
          <p:spPr>
            <a:xfrm rot="5400000">
              <a:off x="883138" y="653738"/>
              <a:ext cx="347650" cy="212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" name="19 Imagen" descr="Paco map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32" y="535227"/>
            <a:ext cx="5081445" cy="24771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9" y="0"/>
            <a:ext cx="5853562" cy="32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663</Words>
  <PresentationFormat>Personalizado</PresentationFormat>
  <Paragraphs>74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Inter Black</vt:lpstr>
      <vt:lpstr>Inter Thin</vt:lpstr>
      <vt:lpstr>Inter</vt:lpstr>
      <vt:lpstr>Calibri</vt:lpstr>
      <vt:lpstr>Office Theme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Estanciera2</dc:creator>
  <cp:lastModifiedBy>Usuario</cp:lastModifiedBy>
  <cp:revision>8</cp:revision>
  <dcterms:created xsi:type="dcterms:W3CDTF">2024-06-19T18:35:30Z</dcterms:created>
  <dcterms:modified xsi:type="dcterms:W3CDTF">2024-06-24T14:59:33Z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2024-06-19T00:00:00Z</vt:filetime>
  </property>
  <property fmtid="{D5CDD505-2E9C-101B-9397-08002B2CF9AE}" pid="3" name="Creator">
    <vt:lpwstr>CorelDRAW 2022</vt:lpwstr>
  </property>
  <property fmtid="{D5CDD505-2E9C-101B-9397-08002B2CF9AE}" pid="4" name="LastSaved">
    <vt:filetime>2024-06-19T00:00:00Z</vt:filetime>
  </property>
  <property fmtid="{D5CDD505-2E9C-101B-9397-08002B2CF9AE}" pid="5" name="Producer">
    <vt:lpwstr>Corel PDF Engine Version 24.5.0.731</vt:lpwstr>
  </property>
</Properties>
</file>